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9"/>
  </p:handoutMasterIdLst>
  <p:sldIdLst>
    <p:sldId id="261" r:id="rId3"/>
    <p:sldId id="259" r:id="rId4"/>
    <p:sldId id="326" r:id="rId6"/>
    <p:sldId id="307" r:id="rId7"/>
    <p:sldId id="329" r:id="rId8"/>
    <p:sldId id="313" r:id="rId9"/>
    <p:sldId id="330" r:id="rId10"/>
    <p:sldId id="315" r:id="rId11"/>
    <p:sldId id="337" r:id="rId12"/>
    <p:sldId id="338" r:id="rId13"/>
    <p:sldId id="339" r:id="rId14"/>
    <p:sldId id="333" r:id="rId15"/>
    <p:sldId id="334" r:id="rId16"/>
    <p:sldId id="335" r:id="rId17"/>
    <p:sldId id="336" r:id="rId18"/>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2"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彭玉凤" initials="彭玉凤"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28E"/>
    <a:srgbClr val="9F2B24"/>
    <a:srgbClr val="C6C4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000" autoAdjust="0"/>
    <p:restoredTop sz="94660"/>
  </p:normalViewPr>
  <p:slideViewPr>
    <p:cSldViewPr snapToGrid="0" showGuides="1">
      <p:cViewPr varScale="1">
        <p:scale>
          <a:sx n="83" d="100"/>
          <a:sy n="83" d="100"/>
        </p:scale>
        <p:origin x="45" y="93"/>
      </p:cViewPr>
      <p:guideLst>
        <p:guide orient="horz" pos="2242"/>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gs" Target="tags/tag39.xml"/><Relationship Id="rId23" Type="http://schemas.openxmlformats.org/officeDocument/2006/relationships/commentAuthors" Target="commen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60DF3E-4775-4BBF-85B2-ABB2E63BA22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0D722E-A6CF-4162-8F4E-18ED06651A8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4CABC8C-DB41-4BAA-851A-AEFB1A401FD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7" name="任意多边形: 形状 46"/>
          <p:cNvSpPr/>
          <p:nvPr userDrawn="1"/>
        </p:nvSpPr>
        <p:spPr>
          <a:xfrm>
            <a:off x="10116457" y="-8894"/>
            <a:ext cx="2091848" cy="4622169"/>
          </a:xfrm>
          <a:custGeom>
            <a:avLst/>
            <a:gdLst>
              <a:gd name="connsiteX0" fmla="*/ 336986 w 2091848"/>
              <a:gd name="connsiteY0" fmla="*/ 0 h 4622169"/>
              <a:gd name="connsiteX1" fmla="*/ 2091848 w 2091848"/>
              <a:gd name="connsiteY1" fmla="*/ 0 h 4622169"/>
              <a:gd name="connsiteX2" fmla="*/ 2091848 w 2091848"/>
              <a:gd name="connsiteY2" fmla="*/ 4622169 h 4622169"/>
              <a:gd name="connsiteX3" fmla="*/ 1846112 w 2091848"/>
              <a:gd name="connsiteY3" fmla="*/ 4622169 h 4622169"/>
              <a:gd name="connsiteX4" fmla="*/ 0 w 2091848"/>
              <a:gd name="connsiteY4" fmla="*/ 397389 h 4622169"/>
              <a:gd name="connsiteX5" fmla="*/ 0 w 2091848"/>
              <a:gd name="connsiteY5" fmla="*/ 370886 h 462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1848" h="4622169">
                <a:moveTo>
                  <a:pt x="336986" y="0"/>
                </a:moveTo>
                <a:lnTo>
                  <a:pt x="2091848" y="0"/>
                </a:lnTo>
                <a:lnTo>
                  <a:pt x="2091848" y="4622169"/>
                </a:lnTo>
                <a:lnTo>
                  <a:pt x="1846112" y="4622169"/>
                </a:lnTo>
                <a:lnTo>
                  <a:pt x="0" y="397389"/>
                </a:lnTo>
                <a:lnTo>
                  <a:pt x="0" y="37088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rotWithShape="1">
          <a:blip r:embed="rId2">
            <a:extLst>
              <a:ext uri="{28A0092B-C50C-407E-A947-70E740481C1C}">
                <a14:useLocalDpi xmlns:a14="http://schemas.microsoft.com/office/drawing/2010/main" val="0"/>
              </a:ext>
            </a:extLst>
          </a:blip>
          <a:srcRect r="46041"/>
          <a:stretch>
            <a:fillRect/>
          </a:stretch>
        </p:blipFill>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5589639 h 6858000"/>
              <a:gd name="connsiteX3" fmla="*/ 3426542 w 6096000"/>
              <a:gd name="connsiteY3" fmla="*/ 6858000 h 6858000"/>
              <a:gd name="connsiteX4" fmla="*/ 0 w 6096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6096000" y="5589639"/>
                </a:lnTo>
                <a:cubicBezTo>
                  <a:pt x="4621699" y="5589639"/>
                  <a:pt x="3426542" y="6157504"/>
                  <a:pt x="3426542" y="6858000"/>
                </a:cubicBezTo>
                <a:lnTo>
                  <a:pt x="0" y="6858000"/>
                </a:lnTo>
                <a:close/>
              </a:path>
            </a:pathLst>
          </a:custGeom>
        </p:spPr>
      </p:pic>
      <p:sp>
        <p:nvSpPr>
          <p:cNvPr id="2" name="矩形 1"/>
          <p:cNvSpPr/>
          <p:nvPr userDrawn="1"/>
        </p:nvSpPr>
        <p:spPr>
          <a:xfrm rot="4241583">
            <a:off x="-4746240" y="3086098"/>
            <a:ext cx="6172200" cy="6172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userDrawn="1"/>
        </p:nvGrpSpPr>
        <p:grpSpPr>
          <a:xfrm>
            <a:off x="-50801" y="-28577"/>
            <a:ext cx="5885544" cy="6886577"/>
            <a:chOff x="-50801" y="-28577"/>
            <a:chExt cx="5885544" cy="6886577"/>
          </a:xfrm>
        </p:grpSpPr>
        <p:cxnSp>
          <p:nvCxnSpPr>
            <p:cNvPr id="4" name="直接连接符 3"/>
            <p:cNvCxnSpPr/>
            <p:nvPr userDrawn="1"/>
          </p:nvCxnSpPr>
          <p:spPr>
            <a:xfrm flipV="1">
              <a:off x="0" y="0"/>
              <a:ext cx="5834743" cy="2239303"/>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flipV="1">
              <a:off x="-1" y="-1"/>
              <a:ext cx="5834743" cy="2239303"/>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flipV="1">
              <a:off x="-50801" y="-28577"/>
              <a:ext cx="5834743" cy="2239303"/>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flipH="1" flipV="1">
              <a:off x="0" y="1169194"/>
              <a:ext cx="2047875" cy="5688806"/>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flipH="1" flipV="1">
              <a:off x="-50800" y="1169194"/>
              <a:ext cx="2047875" cy="5688806"/>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grpSp>
      <p:cxnSp>
        <p:nvCxnSpPr>
          <p:cNvPr id="29" name="直接连接符 28"/>
          <p:cNvCxnSpPr/>
          <p:nvPr userDrawn="1"/>
        </p:nvCxnSpPr>
        <p:spPr>
          <a:xfrm>
            <a:off x="9855200" y="-46698"/>
            <a:ext cx="2320495" cy="5514048"/>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a:off x="9791699" y="0"/>
            <a:ext cx="2400301" cy="5703686"/>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nvCxnSpPr>
        <p:spPr>
          <a:xfrm flipV="1">
            <a:off x="6700838" y="4757739"/>
            <a:ext cx="5474857" cy="2100261"/>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userDrawn="1"/>
        </p:nvCxnSpPr>
        <p:spPr>
          <a:xfrm flipV="1">
            <a:off x="6505595" y="4682132"/>
            <a:ext cx="5670100" cy="2175868"/>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0270052" y="226652"/>
            <a:ext cx="1611397" cy="49134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矩形 1"/>
          <p:cNvSpPr/>
          <p:nvPr userDrawn="1"/>
        </p:nvSpPr>
        <p:spPr>
          <a:xfrm rot="4241583">
            <a:off x="-2554866" y="1776143"/>
            <a:ext cx="6084032" cy="6084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userDrawn="1"/>
        </p:nvCxnSpPr>
        <p:spPr>
          <a:xfrm flipV="1">
            <a:off x="-180504" y="-462096"/>
            <a:ext cx="5834743" cy="2239303"/>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userDrawn="1"/>
        </p:nvCxnSpPr>
        <p:spPr>
          <a:xfrm flipV="1">
            <a:off x="-180505" y="-462097"/>
            <a:ext cx="5834743" cy="2239303"/>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V="1">
            <a:off x="-231305" y="-490673"/>
            <a:ext cx="5834743" cy="2239303"/>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flipH="1" flipV="1">
            <a:off x="2120263" y="-128664"/>
            <a:ext cx="2605626" cy="6986664"/>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flipH="1" flipV="1">
            <a:off x="2069463" y="-128664"/>
            <a:ext cx="2584456" cy="6986664"/>
          </a:xfrm>
          <a:prstGeom prst="line">
            <a:avLst/>
          </a:prstGeom>
          <a:ln w="19050">
            <a:solidFill>
              <a:srgbClr val="C6C4C4"/>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343983" y="226652"/>
            <a:ext cx="1797462" cy="548077"/>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DBAEAB0E-6675-4070-8304-E951D0AFD63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38C6F0FC-222C-4A7A-8A84-D4789B0248D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DBAEAB0E-6675-4070-8304-E951D0AFD638}"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38C6F0FC-222C-4A7A-8A84-D4789B0248D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DBAEAB0E-6675-4070-8304-E951D0AFD638}"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38C6F0FC-222C-4A7A-8A84-D4789B0248D9}" type="slidenum">
              <a:rPr lang="zh-CN" altLang="en-US" smtClean="0"/>
            </a:fld>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343983" y="226652"/>
            <a:ext cx="1797462" cy="548077"/>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DBAEAB0E-6675-4070-8304-E951D0AFD638}"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8C6F0FC-222C-4A7A-8A84-D4789B0248D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DBAEAB0E-6675-4070-8304-E951D0AFD63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38C6F0FC-222C-4A7A-8A84-D4789B0248D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DBAEAB0E-6675-4070-8304-E951D0AFD63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38C6F0FC-222C-4A7A-8A84-D4789B0248D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DBAEAB0E-6675-4070-8304-E951D0AFD63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38C6F0FC-222C-4A7A-8A84-D4789B0248D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DBAEAB0E-6675-4070-8304-E951D0AFD63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38C6F0FC-222C-4A7A-8A84-D4789B0248D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0_Title Slide">
    <p:spTree>
      <p:nvGrpSpPr>
        <p:cNvPr id="1" name=""/>
        <p:cNvGrpSpPr/>
        <p:nvPr/>
      </p:nvGrpSpPr>
      <p:grpSpPr>
        <a:xfrm>
          <a:off x="0" y="0"/>
          <a:ext cx="0" cy="0"/>
          <a:chOff x="0" y="0"/>
          <a:chExt cx="0" cy="0"/>
        </a:xfrm>
      </p:grpSpPr>
      <p:sp>
        <p:nvSpPr>
          <p:cNvPr id="2" name="Picture Placeholder 13"/>
          <p:cNvSpPr>
            <a:spLocks noGrp="1"/>
          </p:cNvSpPr>
          <p:nvPr>
            <p:ph type="pic" sz="quarter" idx="16"/>
          </p:nvPr>
        </p:nvSpPr>
        <p:spPr>
          <a:xfrm>
            <a:off x="1221658" y="1023938"/>
            <a:ext cx="4874342" cy="2403988"/>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alpha val="46000"/>
            </a:schemeClr>
          </a:solidFill>
        </p:spPr>
        <p:txBody>
          <a:bodyPr wrap="square">
            <a:noAutofit/>
          </a:bodyPr>
          <a:lstStyle>
            <a:lvl1pPr marL="0" indent="0" algn="ctr">
              <a:buNone/>
              <a:defRPr sz="1750">
                <a:solidFill>
                  <a:schemeClr val="tx1">
                    <a:lumMod val="50000"/>
                    <a:lumOff val="50000"/>
                  </a:schemeClr>
                </a:solidFill>
              </a:defRPr>
            </a:lvl1pPr>
          </a:lstStyle>
          <a:p>
            <a:endParaRPr lang="id-ID"/>
          </a:p>
        </p:txBody>
      </p:sp>
      <p:sp>
        <p:nvSpPr>
          <p:cNvPr id="3" name="Picture Placeholder 13"/>
          <p:cNvSpPr>
            <a:spLocks noGrp="1"/>
          </p:cNvSpPr>
          <p:nvPr>
            <p:ph type="pic" sz="quarter" idx="17"/>
          </p:nvPr>
        </p:nvSpPr>
        <p:spPr>
          <a:xfrm>
            <a:off x="6096000" y="1023938"/>
            <a:ext cx="4874342" cy="2403988"/>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alpha val="46000"/>
            </a:schemeClr>
          </a:solidFill>
        </p:spPr>
        <p:txBody>
          <a:bodyPr wrap="square">
            <a:noAutofit/>
          </a:bodyPr>
          <a:lstStyle>
            <a:lvl1pPr marL="0" indent="0" algn="ctr">
              <a:buNone/>
              <a:defRPr sz="1750">
                <a:solidFill>
                  <a:schemeClr val="tx1">
                    <a:lumMod val="50000"/>
                    <a:lumOff val="50000"/>
                  </a:schemeClr>
                </a:solidFill>
              </a:defRPr>
            </a:lvl1p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75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750" fill="hold"/>
                                        <p:tgtEl>
                                          <p:spTgt spid="3"/>
                                        </p:tgtEl>
                                        <p:attrNameLst>
                                          <p:attrName>ppt_x</p:attrName>
                                        </p:attrNameLst>
                                      </p:cBhvr>
                                      <p:tavLst>
                                        <p:tav tm="0">
                                          <p:val>
                                            <p:strVal val="#ppt_x"/>
                                          </p:val>
                                        </p:tav>
                                        <p:tav tm="100000">
                                          <p:val>
                                            <p:strVal val="#ppt_x"/>
                                          </p:val>
                                        </p:tav>
                                      </p:tavLst>
                                    </p:anim>
                                    <p:anim calcmode="lin" valueType="num">
                                      <p:cBhvr additive="base">
                                        <p:cTn id="12" dur="75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F806032-C9ED-49C0-A3DB-86393BC55BD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4B0DF76-F88C-4EAD-AAA9-F5706B04E252}" type="slidenum">
              <a:rPr lang="zh-CN" altLang="en-US" smtClean="0"/>
            </a:fld>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343983" y="226652"/>
            <a:ext cx="1797462" cy="54807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Click="0" advTm="0">
        <p14:window dir="vert"/>
      </p:transition>
    </mc:Choice>
    <mc:Fallback>
      <p:transition spd="slow" advClick="0" advTm="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CEC6AF6-5D85-4AD2-B3D4-79C8979C95D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2458C5B-8CE6-4851-AF6C-DED5A7E7A1A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xml"/><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notesSlide" Target="../notesSlides/notesSlide1.xml"/><Relationship Id="rId15" Type="http://schemas.openxmlformats.org/officeDocument/2006/relationships/slideLayout" Target="../slideLayouts/slideLayout7.xml"/><Relationship Id="rId14" Type="http://schemas.openxmlformats.org/officeDocument/2006/relationships/themeOverride" Target="../theme/themeOverride2.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tags" Target="../tags/tag23.xml"/><Relationship Id="rId7" Type="http://schemas.openxmlformats.org/officeDocument/2006/relationships/image" Target="../media/image7.png"/><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5" Type="http://schemas.openxmlformats.org/officeDocument/2006/relationships/slideLayout" Target="../slideLayouts/slideLayout2.xml"/><Relationship Id="rId14" Type="http://schemas.openxmlformats.org/officeDocument/2006/relationships/image" Target="../media/image11.png"/><Relationship Id="rId13" Type="http://schemas.openxmlformats.org/officeDocument/2006/relationships/image" Target="../media/image10.png"/><Relationship Id="rId12" Type="http://schemas.openxmlformats.org/officeDocument/2006/relationships/tags" Target="../tags/tag25.xml"/><Relationship Id="rId11" Type="http://schemas.openxmlformats.org/officeDocument/2006/relationships/image" Target="../media/image9.png"/><Relationship Id="rId10" Type="http://schemas.openxmlformats.org/officeDocument/2006/relationships/tags" Target="../tags/tag24.xml"/><Relationship Id="rId1" Type="http://schemas.openxmlformats.org/officeDocument/2006/relationships/tags" Target="../tags/tag17.xml"/></Relationships>
</file>

<file path=ppt/slides/_rels/slide10.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3" Type="http://schemas.openxmlformats.org/officeDocument/2006/relationships/slideLayout" Target="../slideLayouts/slideLayout2.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tags" Target="../tags/tag2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p:cNvPicPr>
            <a:picLocks noChangeAspect="1"/>
          </p:cNvPicPr>
          <p:nvPr/>
        </p:nvPicPr>
        <p:blipFill>
          <a:blip r:embed="rId1">
            <a:alphaModFix amt="5000"/>
            <a:extLst>
              <a:ext uri="{28A0092B-C50C-407E-A947-70E740481C1C}">
                <a14:useLocalDpi xmlns:a14="http://schemas.microsoft.com/office/drawing/2010/main" val="0"/>
              </a:ext>
            </a:extLst>
          </a:blip>
          <a:srcRect/>
          <a:stretch>
            <a:fillRect/>
          </a:stretch>
        </p:blipFill>
        <p:spPr>
          <a:xfrm>
            <a:off x="5680680" y="1106149"/>
            <a:ext cx="5326478" cy="5335372"/>
          </a:xfrm>
          <a:prstGeom prst="rect">
            <a:avLst/>
          </a:prstGeom>
        </p:spPr>
      </p:pic>
      <p:sp>
        <p:nvSpPr>
          <p:cNvPr id="20" name="文本框 19"/>
          <p:cNvSpPr txBox="1"/>
          <p:nvPr/>
        </p:nvSpPr>
        <p:spPr>
          <a:xfrm>
            <a:off x="1329690" y="3408680"/>
            <a:ext cx="6360160" cy="1015365"/>
          </a:xfrm>
          <a:prstGeom prst="rect">
            <a:avLst/>
          </a:prstGeom>
          <a:noFill/>
        </p:spPr>
        <p:txBody>
          <a:bodyPr wrap="square" rtlCol="0">
            <a:spAutoFit/>
          </a:bodyPr>
          <a:lstStyle/>
          <a:p>
            <a:pPr algn="dist"/>
            <a:endParaRPr lang="zh-CN" altLang="en-US" sz="60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105号-简雅黑" panose="00000500000000000000" pitchFamily="2" charset="-122"/>
              <a:sym typeface="字魂160号-檀宋" panose="00000500000000000000" pitchFamily="2" charset="-122"/>
            </a:endParaRPr>
          </a:p>
        </p:txBody>
      </p:sp>
      <p:sp>
        <p:nvSpPr>
          <p:cNvPr id="471" name="文本框 470"/>
          <p:cNvSpPr txBox="1"/>
          <p:nvPr/>
        </p:nvSpPr>
        <p:spPr>
          <a:xfrm>
            <a:off x="953135" y="2371725"/>
            <a:ext cx="9331325" cy="1876425"/>
          </a:xfrm>
          <a:prstGeom prst="rect">
            <a:avLst/>
          </a:prstGeom>
          <a:noFill/>
        </p:spPr>
        <p:txBody>
          <a:bodyPr wrap="square" rtlCol="0">
            <a:spAutoFit/>
          </a:bodyPr>
          <a:lstStyle/>
          <a:p>
            <a:pPr algn="ctr"/>
            <a:r>
              <a:rPr lang="en-US" altLang="zh-CN" sz="4400" i="1" dirty="0">
                <a:solidFill>
                  <a:schemeClr val="tx1">
                    <a:lumMod val="75000"/>
                    <a:lumOff val="25000"/>
                  </a:schemeClr>
                </a:solidFill>
                <a:latin typeface="Times New Roman" panose="02020603050405020304" charset="0"/>
                <a:ea typeface="字魂160号-檀宋" panose="00000500000000000000" pitchFamily="2" charset="-122"/>
                <a:cs typeface="Times New Roman" panose="02020603050405020304" charset="0"/>
                <a:sym typeface="字魂160号-檀宋" panose="00000500000000000000" pitchFamily="2" charset="-122"/>
              </a:rPr>
              <a:t>Emotion Mirror</a:t>
            </a:r>
            <a:endParaRPr lang="en-US" altLang="zh-CN" sz="3600" i="1" dirty="0">
              <a:solidFill>
                <a:schemeClr val="tx1">
                  <a:lumMod val="75000"/>
                  <a:lumOff val="25000"/>
                </a:schemeClr>
              </a:solidFill>
              <a:latin typeface="Times New Roman" panose="02020603050405020304" charset="0"/>
              <a:ea typeface="字魂160号-檀宋" panose="00000500000000000000" pitchFamily="2" charset="-122"/>
              <a:cs typeface="Times New Roman" panose="02020603050405020304" charset="0"/>
              <a:sym typeface="字魂160号-檀宋" panose="00000500000000000000" pitchFamily="2" charset="-122"/>
            </a:endParaRPr>
          </a:p>
          <a:p>
            <a:pPr algn="ctr"/>
            <a:endParaRPr lang="en-US" altLang="zh-CN" sz="3600" i="1" dirty="0">
              <a:solidFill>
                <a:schemeClr val="tx1">
                  <a:lumMod val="75000"/>
                  <a:lumOff val="25000"/>
                </a:schemeClr>
              </a:solidFill>
              <a:latin typeface="Times New Roman" panose="02020603050405020304" charset="0"/>
              <a:ea typeface="字魂160号-檀宋" panose="00000500000000000000" pitchFamily="2" charset="-122"/>
              <a:cs typeface="Times New Roman" panose="02020603050405020304" charset="0"/>
              <a:sym typeface="字魂160号-檀宋" panose="00000500000000000000" pitchFamily="2" charset="-122"/>
            </a:endParaRPr>
          </a:p>
          <a:p>
            <a:pPr algn="ctr"/>
            <a:r>
              <a:rPr lang="zh-CN" altLang="en-US" sz="3600" i="1" dirty="0">
                <a:solidFill>
                  <a:schemeClr val="tx1">
                    <a:lumMod val="75000"/>
                    <a:lumOff val="25000"/>
                  </a:schemeClr>
                </a:solidFill>
                <a:latin typeface="Times New Roman" panose="02020603050405020304" charset="0"/>
                <a:ea typeface="字魂160号-檀宋" panose="00000500000000000000" pitchFamily="2" charset="-122"/>
                <a:cs typeface="Times New Roman" panose="02020603050405020304" charset="0"/>
                <a:sym typeface="字魂160号-檀宋" panose="00000500000000000000" pitchFamily="2" charset="-122"/>
              </a:rPr>
              <a:t>基于多模态情感识别</a:t>
            </a:r>
            <a:r>
              <a:rPr lang="en-US" altLang="zh-CN" sz="3600" i="1" dirty="0">
                <a:solidFill>
                  <a:schemeClr val="tx1">
                    <a:lumMod val="75000"/>
                    <a:lumOff val="25000"/>
                  </a:schemeClr>
                </a:solidFill>
                <a:latin typeface="Times New Roman" panose="02020603050405020304" charset="0"/>
                <a:ea typeface="字魂160号-檀宋" panose="00000500000000000000" pitchFamily="2" charset="-122"/>
                <a:cs typeface="Times New Roman" panose="02020603050405020304" charset="0"/>
                <a:sym typeface="字魂160号-檀宋" panose="00000500000000000000" pitchFamily="2" charset="-122"/>
              </a:rPr>
              <a:t>&amp;</a:t>
            </a:r>
            <a:r>
              <a:rPr lang="zh-CN" altLang="en-US" sz="3600" i="1" dirty="0">
                <a:solidFill>
                  <a:schemeClr val="tx1">
                    <a:lumMod val="75000"/>
                    <a:lumOff val="25000"/>
                  </a:schemeClr>
                </a:solidFill>
                <a:latin typeface="Times New Roman" panose="02020603050405020304" charset="0"/>
                <a:ea typeface="字魂160号-檀宋" panose="00000500000000000000" pitchFamily="2" charset="-122"/>
                <a:cs typeface="Times New Roman" panose="02020603050405020304" charset="0"/>
                <a:sym typeface="字魂160号-檀宋" panose="00000500000000000000" pitchFamily="2" charset="-122"/>
              </a:rPr>
              <a:t>表情合成的数字桌宠</a:t>
            </a:r>
            <a:endParaRPr lang="zh-CN" altLang="en-US" sz="3600" i="1" dirty="0">
              <a:solidFill>
                <a:schemeClr val="tx1">
                  <a:lumMod val="75000"/>
                  <a:lumOff val="25000"/>
                </a:schemeClr>
              </a:solidFill>
              <a:latin typeface="Times New Roman" panose="02020603050405020304" charset="0"/>
              <a:ea typeface="字魂160号-檀宋" panose="00000500000000000000" pitchFamily="2" charset="-122"/>
              <a:cs typeface="Times New Roman" panose="02020603050405020304" charset="0"/>
              <a:sym typeface="字魂160号-檀宋" panose="00000500000000000000" pitchFamily="2" charset="-122"/>
            </a:endParaRPr>
          </a:p>
        </p:txBody>
      </p:sp>
      <p:pic>
        <p:nvPicPr>
          <p:cNvPr id="477" name="图片 47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9138" y="273414"/>
            <a:ext cx="1171575" cy="329471"/>
          </a:xfrm>
          <a:prstGeom prst="rect">
            <a:avLst/>
          </a:prstGeom>
        </p:spPr>
      </p:pic>
      <p:grpSp>
        <p:nvGrpSpPr>
          <p:cNvPr id="493" name="组合 492"/>
          <p:cNvGrpSpPr/>
          <p:nvPr/>
        </p:nvGrpSpPr>
        <p:grpSpPr>
          <a:xfrm>
            <a:off x="10559867" y="424718"/>
            <a:ext cx="883015" cy="178167"/>
            <a:chOff x="9893117" y="424718"/>
            <a:chExt cx="883015" cy="178167"/>
          </a:xfrm>
        </p:grpSpPr>
        <p:sp>
          <p:nvSpPr>
            <p:cNvPr id="490" name="椭圆 489"/>
            <p:cNvSpPr/>
            <p:nvPr/>
          </p:nvSpPr>
          <p:spPr>
            <a:xfrm>
              <a:off x="9893117" y="424720"/>
              <a:ext cx="178165" cy="17816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字魂160号-檀宋" panose="00000500000000000000" pitchFamily="2" charset="-122"/>
                <a:ea typeface="字魂160号-檀宋" panose="00000500000000000000" pitchFamily="2" charset="-122"/>
                <a:sym typeface="字魂160号-檀宋" panose="00000500000000000000" pitchFamily="2" charset="-122"/>
              </a:endParaRPr>
            </a:p>
          </p:txBody>
        </p:sp>
        <p:sp>
          <p:nvSpPr>
            <p:cNvPr id="491" name="椭圆 490"/>
            <p:cNvSpPr/>
            <p:nvPr/>
          </p:nvSpPr>
          <p:spPr>
            <a:xfrm>
              <a:off x="10245542" y="424719"/>
              <a:ext cx="178165" cy="17816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字魂160号-檀宋" panose="00000500000000000000" pitchFamily="2" charset="-122"/>
                <a:ea typeface="字魂160号-檀宋" panose="00000500000000000000" pitchFamily="2" charset="-122"/>
                <a:sym typeface="字魂160号-檀宋" panose="00000500000000000000" pitchFamily="2" charset="-122"/>
              </a:endParaRPr>
            </a:p>
          </p:txBody>
        </p:sp>
        <p:sp>
          <p:nvSpPr>
            <p:cNvPr id="492" name="椭圆 491"/>
            <p:cNvSpPr/>
            <p:nvPr/>
          </p:nvSpPr>
          <p:spPr>
            <a:xfrm>
              <a:off x="10597967" y="424718"/>
              <a:ext cx="178165" cy="17816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字魂160号-檀宋" panose="00000500000000000000" pitchFamily="2" charset="-122"/>
                <a:ea typeface="字魂160号-檀宋" panose="00000500000000000000" pitchFamily="2" charset="-122"/>
                <a:sym typeface="字魂160号-檀宋" panose="00000500000000000000" pitchFamily="2" charset="-122"/>
              </a:endParaRPr>
            </a:p>
          </p:txBody>
        </p:sp>
      </p:grpSp>
      <p:grpSp>
        <p:nvGrpSpPr>
          <p:cNvPr id="22" name="组合 21"/>
          <p:cNvGrpSpPr/>
          <p:nvPr/>
        </p:nvGrpSpPr>
        <p:grpSpPr>
          <a:xfrm>
            <a:off x="8219440" y="5699760"/>
            <a:ext cx="1581150" cy="441960"/>
            <a:chOff x="1203959" y="4343400"/>
            <a:chExt cx="6043295" cy="441960"/>
          </a:xfrm>
        </p:grpSpPr>
        <p:sp>
          <p:nvSpPr>
            <p:cNvPr id="23" name="矩形: 圆角 22"/>
            <p:cNvSpPr/>
            <p:nvPr/>
          </p:nvSpPr>
          <p:spPr>
            <a:xfrm>
              <a:off x="1203959" y="4343400"/>
              <a:ext cx="6043295" cy="44196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BEA"/>
                </a:solidFill>
                <a:latin typeface="字魂160号-檀宋" panose="00000500000000000000" pitchFamily="2" charset="-122"/>
                <a:ea typeface="字魂160号-檀宋" panose="00000500000000000000" pitchFamily="2" charset="-122"/>
                <a:sym typeface="字魂160号-檀宋" panose="00000500000000000000" pitchFamily="2" charset="-122"/>
              </a:endParaRPr>
            </a:p>
          </p:txBody>
        </p:sp>
        <p:sp>
          <p:nvSpPr>
            <p:cNvPr id="24" name="文本框 23"/>
            <p:cNvSpPr txBox="1"/>
            <p:nvPr/>
          </p:nvSpPr>
          <p:spPr>
            <a:xfrm>
              <a:off x="1457220" y="4405630"/>
              <a:ext cx="5527910" cy="306705"/>
            </a:xfrm>
            <a:prstGeom prst="rect">
              <a:avLst/>
            </a:prstGeom>
            <a:noFill/>
          </p:spPr>
          <p:txBody>
            <a:bodyPr wrap="square" rtlCol="0">
              <a:spAutoFit/>
            </a:bodyPr>
            <a:lstStyle/>
            <a:p>
              <a:pPr algn="dist"/>
              <a:r>
                <a:rPr lang="en-US" altLang="zh-CN" sz="1400" dirty="0">
                  <a:solidFill>
                    <a:schemeClr val="bg1"/>
                  </a:solidFill>
                  <a:latin typeface="字魂160号-檀宋" panose="00000500000000000000" pitchFamily="2" charset="-122"/>
                  <a:ea typeface="字魂160号-檀宋" panose="00000500000000000000" pitchFamily="2" charset="-122"/>
                  <a:sym typeface="字魂160号-檀宋" panose="00000500000000000000" pitchFamily="2" charset="-122"/>
                </a:rPr>
                <a:t> </a:t>
              </a:r>
              <a:r>
                <a:rPr lang="zh-CN" altLang="en-US" sz="1400" dirty="0">
                  <a:solidFill>
                    <a:schemeClr val="bg1"/>
                  </a:solidFill>
                  <a:latin typeface="字魂160号-檀宋" panose="00000500000000000000" pitchFamily="2" charset="-122"/>
                  <a:ea typeface="字魂160号-檀宋" panose="00000500000000000000" pitchFamily="2" charset="-122"/>
                  <a:sym typeface="字魂160号-檀宋" panose="00000500000000000000" pitchFamily="2" charset="-122"/>
                </a:rPr>
                <a:t>组长</a:t>
              </a:r>
              <a:r>
                <a:rPr lang="zh-CN" altLang="en-US" sz="1400" dirty="0">
                  <a:solidFill>
                    <a:schemeClr val="bg1"/>
                  </a:solidFill>
                  <a:latin typeface="字魂160号-檀宋" panose="00000500000000000000" pitchFamily="2" charset="-122"/>
                  <a:ea typeface="字魂160号-檀宋" panose="00000500000000000000" pitchFamily="2" charset="-122"/>
                  <a:sym typeface="字魂160号-檀宋" panose="00000500000000000000" pitchFamily="2" charset="-122"/>
                </a:rPr>
                <a:t>：殷龙飞</a:t>
              </a:r>
              <a:endParaRPr lang="zh-CN" altLang="en-US" sz="1400" dirty="0">
                <a:solidFill>
                  <a:schemeClr val="bg1"/>
                </a:solidFill>
                <a:latin typeface="字魂160号-檀宋" panose="00000500000000000000" pitchFamily="2" charset="-122"/>
                <a:ea typeface="字魂160号-檀宋" panose="00000500000000000000" pitchFamily="2" charset="-122"/>
                <a:sym typeface="字魂160号-檀宋" panose="00000500000000000000" pitchFamily="2" charset="-122"/>
              </a:endParaRPr>
            </a:p>
          </p:txBody>
        </p:sp>
      </p:grpSp>
      <p:sp>
        <p:nvSpPr>
          <p:cNvPr id="26" name="矩形 25"/>
          <p:cNvSpPr/>
          <p:nvPr/>
        </p:nvSpPr>
        <p:spPr>
          <a:xfrm>
            <a:off x="619039" y="939336"/>
            <a:ext cx="517962" cy="45719"/>
          </a:xfrm>
          <a:prstGeom prst="rect">
            <a:avLst/>
          </a:prstGeom>
          <a:solidFill>
            <a:schemeClr val="accent1"/>
          </a:solidFill>
          <a:ln>
            <a:noFill/>
          </a:ln>
          <a:effectLst>
            <a:outerShdw blurRad="381000" algn="ctr" rotWithShape="0">
              <a:schemeClr val="bg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ffectLst>
                <a:outerShdw blurRad="381000" algn="ctr" rotWithShape="0">
                  <a:prstClr val="black">
                    <a:alpha val="25000"/>
                  </a:prstClr>
                </a:outerShdw>
              </a:effectLst>
              <a:latin typeface="字魂160号-檀宋" panose="00000500000000000000" pitchFamily="2" charset="-122"/>
              <a:ea typeface="字魂160号-檀宋" panose="00000500000000000000" pitchFamily="2" charset="-122"/>
              <a:cs typeface="字魂59号-创粗黑" panose="00000500000000000000" charset="-122"/>
              <a:sym typeface="字魂160号-檀宋" panose="00000500000000000000" pitchFamily="2" charset="-122"/>
            </a:endParaRPr>
          </a:p>
        </p:txBody>
      </p:sp>
      <p:sp>
        <p:nvSpPr>
          <p:cNvPr id="27" name="文本框 26"/>
          <p:cNvSpPr txBox="1"/>
          <p:nvPr/>
        </p:nvSpPr>
        <p:spPr>
          <a:xfrm>
            <a:off x="530393" y="295678"/>
            <a:ext cx="1060425" cy="510909"/>
          </a:xfrm>
          <a:prstGeom prst="rect">
            <a:avLst/>
          </a:prstGeom>
          <a:noFill/>
        </p:spPr>
        <p:txBody>
          <a:bodyPr wrap="square" rtlCol="0">
            <a:spAutoFit/>
          </a:bodyPr>
          <a:lstStyle/>
          <a:p>
            <a:pPr>
              <a:lnSpc>
                <a:spcPct val="120000"/>
              </a:lnSpc>
            </a:pPr>
            <a:r>
              <a:rPr lang="en-US" altLang="zh-CN" sz="12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59号-创粗黑" panose="00000500000000000000" charset="-122"/>
                <a:sym typeface="字魂160号-檀宋" panose="00000500000000000000" pitchFamily="2" charset="-122"/>
              </a:rPr>
              <a:t>HEY</a:t>
            </a:r>
            <a:endParaRPr lang="en-US" altLang="zh-CN" sz="12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59号-创粗黑" panose="00000500000000000000" charset="-122"/>
              <a:sym typeface="字魂160号-檀宋" panose="00000500000000000000" pitchFamily="2" charset="-122"/>
            </a:endParaRPr>
          </a:p>
          <a:p>
            <a:pPr>
              <a:lnSpc>
                <a:spcPct val="120000"/>
              </a:lnSpc>
            </a:pPr>
            <a:r>
              <a:rPr lang="en-US" altLang="zh-CN" sz="12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59号-创粗黑" panose="00000500000000000000" charset="-122"/>
                <a:sym typeface="字魂160号-檀宋" panose="00000500000000000000" pitchFamily="2" charset="-122"/>
              </a:rPr>
              <a:t>WAKE UP!</a:t>
            </a:r>
            <a:endParaRPr lang="zh-CN" altLang="en-US" sz="12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59号-创粗黑" panose="00000500000000000000" charset="-122"/>
              <a:sym typeface="字魂160号-檀宋" panose="00000500000000000000" pitchFamily="2" charset="-122"/>
            </a:endParaRPr>
          </a:p>
        </p:txBody>
      </p:sp>
      <p:grpSp>
        <p:nvGrpSpPr>
          <p:cNvPr id="7" name="组合 6"/>
          <p:cNvGrpSpPr/>
          <p:nvPr/>
        </p:nvGrpSpPr>
        <p:grpSpPr>
          <a:xfrm>
            <a:off x="8219440" y="6301105"/>
            <a:ext cx="3848100" cy="441960"/>
            <a:chOff x="1203959" y="4343400"/>
            <a:chExt cx="6043295" cy="441960"/>
          </a:xfrm>
        </p:grpSpPr>
        <p:sp>
          <p:nvSpPr>
            <p:cNvPr id="8" name="矩形: 圆角 22"/>
            <p:cNvSpPr/>
            <p:nvPr/>
          </p:nvSpPr>
          <p:spPr>
            <a:xfrm>
              <a:off x="1203959" y="4343400"/>
              <a:ext cx="6043295" cy="44196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BEA"/>
                </a:solidFill>
                <a:latin typeface="字魂160号-檀宋" panose="00000500000000000000" pitchFamily="2" charset="-122"/>
                <a:ea typeface="字魂160号-檀宋" panose="00000500000000000000" pitchFamily="2" charset="-122"/>
                <a:sym typeface="字魂160号-檀宋" panose="00000500000000000000" pitchFamily="2" charset="-122"/>
              </a:endParaRPr>
            </a:p>
          </p:txBody>
        </p:sp>
        <p:sp>
          <p:nvSpPr>
            <p:cNvPr id="9" name="文本框 8"/>
            <p:cNvSpPr txBox="1"/>
            <p:nvPr/>
          </p:nvSpPr>
          <p:spPr>
            <a:xfrm>
              <a:off x="1457220" y="4405630"/>
              <a:ext cx="5527910" cy="306705"/>
            </a:xfrm>
            <a:prstGeom prst="rect">
              <a:avLst/>
            </a:prstGeom>
            <a:noFill/>
          </p:spPr>
          <p:txBody>
            <a:bodyPr wrap="square" rtlCol="0">
              <a:spAutoFit/>
            </a:bodyPr>
            <a:lstStyle/>
            <a:p>
              <a:pPr algn="dist"/>
              <a:r>
                <a:rPr lang="zh-CN" altLang="en-US" sz="1400" dirty="0">
                  <a:solidFill>
                    <a:schemeClr val="bg1"/>
                  </a:solidFill>
                  <a:latin typeface="字魂160号-檀宋" panose="00000500000000000000" pitchFamily="2" charset="-122"/>
                  <a:ea typeface="字魂160号-檀宋" panose="00000500000000000000" pitchFamily="2" charset="-122"/>
                  <a:sym typeface="字魂160号-檀宋" panose="00000500000000000000" pitchFamily="2" charset="-122"/>
                </a:rPr>
                <a:t>成员：刘林瑜、姬凯宁、王宇石、刘馨箔</a:t>
              </a:r>
              <a:endParaRPr lang="zh-CN" altLang="en-US" sz="1400" dirty="0">
                <a:solidFill>
                  <a:schemeClr val="bg1"/>
                </a:solidFill>
                <a:latin typeface="字魂160号-檀宋" panose="00000500000000000000" pitchFamily="2" charset="-122"/>
                <a:ea typeface="字魂160号-檀宋" panose="00000500000000000000" pitchFamily="2" charset="-122"/>
                <a:sym typeface="字魂160号-檀宋" panose="000005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71"/>
                                        </p:tgtEl>
                                        <p:attrNameLst>
                                          <p:attrName>style.visibility</p:attrName>
                                        </p:attrNameLst>
                                      </p:cBhvr>
                                      <p:to>
                                        <p:strVal val="visible"/>
                                      </p:to>
                                    </p:set>
                                    <p:anim calcmode="lin" valueType="num">
                                      <p:cBhvr additive="base">
                                        <p:cTn id="7" dur="1000" fill="hold"/>
                                        <p:tgtEl>
                                          <p:spTgt spid="471"/>
                                        </p:tgtEl>
                                        <p:attrNameLst>
                                          <p:attrName>ppt_x</p:attrName>
                                        </p:attrNameLst>
                                      </p:cBhvr>
                                      <p:tavLst>
                                        <p:tav tm="0">
                                          <p:val>
                                            <p:strVal val="0-#ppt_w/2"/>
                                          </p:val>
                                        </p:tav>
                                        <p:tav tm="100000">
                                          <p:val>
                                            <p:strVal val="#ppt_x"/>
                                          </p:val>
                                        </p:tav>
                                      </p:tavLst>
                                    </p:anim>
                                    <p:anim calcmode="lin" valueType="num">
                                      <p:cBhvr additive="base">
                                        <p:cTn id="8" dur="1000" fill="hold"/>
                                        <p:tgtEl>
                                          <p:spTgt spid="471"/>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477"/>
                                        </p:tgtEl>
                                        <p:attrNameLst>
                                          <p:attrName>style.visibility</p:attrName>
                                        </p:attrNameLst>
                                      </p:cBhvr>
                                      <p:to>
                                        <p:strVal val="visible"/>
                                      </p:to>
                                    </p:set>
                                    <p:anim calcmode="lin" valueType="num">
                                      <p:cBhvr additive="base">
                                        <p:cTn id="11" dur="1000" fill="hold"/>
                                        <p:tgtEl>
                                          <p:spTgt spid="477"/>
                                        </p:tgtEl>
                                        <p:attrNameLst>
                                          <p:attrName>ppt_x</p:attrName>
                                        </p:attrNameLst>
                                      </p:cBhvr>
                                      <p:tavLst>
                                        <p:tav tm="0">
                                          <p:val>
                                            <p:strVal val="0-#ppt_w/2"/>
                                          </p:val>
                                        </p:tav>
                                        <p:tav tm="100000">
                                          <p:val>
                                            <p:strVal val="#ppt_x"/>
                                          </p:val>
                                        </p:tav>
                                      </p:tavLst>
                                    </p:anim>
                                    <p:anim calcmode="lin" valueType="num">
                                      <p:cBhvr additive="base">
                                        <p:cTn id="12" dur="1000" fill="hold"/>
                                        <p:tgtEl>
                                          <p:spTgt spid="477"/>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493"/>
                                        </p:tgtEl>
                                        <p:attrNameLst>
                                          <p:attrName>style.visibility</p:attrName>
                                        </p:attrNameLst>
                                      </p:cBhvr>
                                      <p:to>
                                        <p:strVal val="visible"/>
                                      </p:to>
                                    </p:set>
                                    <p:anim calcmode="lin" valueType="num">
                                      <p:cBhvr additive="base">
                                        <p:cTn id="15" dur="1000" fill="hold"/>
                                        <p:tgtEl>
                                          <p:spTgt spid="493"/>
                                        </p:tgtEl>
                                        <p:attrNameLst>
                                          <p:attrName>ppt_x</p:attrName>
                                        </p:attrNameLst>
                                      </p:cBhvr>
                                      <p:tavLst>
                                        <p:tav tm="0">
                                          <p:val>
                                            <p:strVal val="1+#ppt_w/2"/>
                                          </p:val>
                                        </p:tav>
                                        <p:tav tm="100000">
                                          <p:val>
                                            <p:strVal val="#ppt_x"/>
                                          </p:val>
                                        </p:tav>
                                      </p:tavLst>
                                    </p:anim>
                                    <p:anim calcmode="lin" valueType="num">
                                      <p:cBhvr additive="base">
                                        <p:cTn id="16" dur="1000" fill="hold"/>
                                        <p:tgtEl>
                                          <p:spTgt spid="493"/>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1000" fill="hold"/>
                                        <p:tgtEl>
                                          <p:spTgt spid="22"/>
                                        </p:tgtEl>
                                        <p:attrNameLst>
                                          <p:attrName>ppt_x</p:attrName>
                                        </p:attrNameLst>
                                      </p:cBhvr>
                                      <p:tavLst>
                                        <p:tav tm="0">
                                          <p:val>
                                            <p:strVal val="1+#ppt_w/2"/>
                                          </p:val>
                                        </p:tav>
                                        <p:tav tm="100000">
                                          <p:val>
                                            <p:strVal val="#ppt_x"/>
                                          </p:val>
                                        </p:tav>
                                      </p:tavLst>
                                    </p:anim>
                                    <p:anim calcmode="lin" valueType="num">
                                      <p:cBhvr additive="base">
                                        <p:cTn id="20" dur="1000" fill="hold"/>
                                        <p:tgtEl>
                                          <p:spTgt spid="22"/>
                                        </p:tgtEl>
                                        <p:attrNameLst>
                                          <p:attrName>ppt_y</p:attrName>
                                        </p:attrNameLst>
                                      </p:cBhvr>
                                      <p:tavLst>
                                        <p:tav tm="0">
                                          <p:val>
                                            <p:strVal val="#ppt_y"/>
                                          </p:val>
                                        </p:tav>
                                        <p:tav tm="100000">
                                          <p:val>
                                            <p:strVal val="#ppt_y"/>
                                          </p:val>
                                        </p:tav>
                                      </p:tavLst>
                                    </p:anim>
                                  </p:childTnLst>
                                </p:cTn>
                              </p:par>
                              <p:par>
                                <p:cTn id="21" presetID="55"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p:cTn id="23" dur="1000" fill="hold"/>
                                        <p:tgtEl>
                                          <p:spTgt spid="26"/>
                                        </p:tgtEl>
                                        <p:attrNameLst>
                                          <p:attrName>ppt_w</p:attrName>
                                        </p:attrNameLst>
                                      </p:cBhvr>
                                      <p:tavLst>
                                        <p:tav tm="0">
                                          <p:val>
                                            <p:strVal val="#ppt_w*0.70"/>
                                          </p:val>
                                        </p:tav>
                                        <p:tav tm="100000">
                                          <p:val>
                                            <p:strVal val="#ppt_w"/>
                                          </p:val>
                                        </p:tav>
                                      </p:tavLst>
                                    </p:anim>
                                    <p:anim calcmode="lin" valueType="num">
                                      <p:cBhvr>
                                        <p:cTn id="24" dur="1000" fill="hold"/>
                                        <p:tgtEl>
                                          <p:spTgt spid="26"/>
                                        </p:tgtEl>
                                        <p:attrNameLst>
                                          <p:attrName>ppt_h</p:attrName>
                                        </p:attrNameLst>
                                      </p:cBhvr>
                                      <p:tavLst>
                                        <p:tav tm="0">
                                          <p:val>
                                            <p:strVal val="#ppt_h"/>
                                          </p:val>
                                        </p:tav>
                                        <p:tav tm="100000">
                                          <p:val>
                                            <p:strVal val="#ppt_h"/>
                                          </p:val>
                                        </p:tav>
                                      </p:tavLst>
                                    </p:anim>
                                    <p:animEffect transition="in" filter="fade">
                                      <p:cBhvr>
                                        <p:cTn id="25" dur="1000"/>
                                        <p:tgtEl>
                                          <p:spTgt spid="26"/>
                                        </p:tgtEl>
                                      </p:cBhvr>
                                    </p:animEffect>
                                  </p:childTnLst>
                                </p:cTn>
                              </p:par>
                              <p:par>
                                <p:cTn id="26" presetID="55"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 calcmode="lin" valueType="num">
                                      <p:cBhvr>
                                        <p:cTn id="28" dur="1000" fill="hold"/>
                                        <p:tgtEl>
                                          <p:spTgt spid="27"/>
                                        </p:tgtEl>
                                        <p:attrNameLst>
                                          <p:attrName>ppt_w</p:attrName>
                                        </p:attrNameLst>
                                      </p:cBhvr>
                                      <p:tavLst>
                                        <p:tav tm="0">
                                          <p:val>
                                            <p:strVal val="#ppt_w*0.70"/>
                                          </p:val>
                                        </p:tav>
                                        <p:tav tm="100000">
                                          <p:val>
                                            <p:strVal val="#ppt_w"/>
                                          </p:val>
                                        </p:tav>
                                      </p:tavLst>
                                    </p:anim>
                                    <p:anim calcmode="lin" valueType="num">
                                      <p:cBhvr>
                                        <p:cTn id="29" dur="1000" fill="hold"/>
                                        <p:tgtEl>
                                          <p:spTgt spid="27"/>
                                        </p:tgtEl>
                                        <p:attrNameLst>
                                          <p:attrName>ppt_h</p:attrName>
                                        </p:attrNameLst>
                                      </p:cBhvr>
                                      <p:tavLst>
                                        <p:tav tm="0">
                                          <p:val>
                                            <p:strVal val="#ppt_h"/>
                                          </p:val>
                                        </p:tav>
                                        <p:tav tm="100000">
                                          <p:val>
                                            <p:strVal val="#ppt_h"/>
                                          </p:val>
                                        </p:tav>
                                      </p:tavLst>
                                    </p:anim>
                                    <p:animEffect transition="in" filter="fade">
                                      <p:cBhvr>
                                        <p:cTn id="30" dur="1000"/>
                                        <p:tgtEl>
                                          <p:spTgt spid="27"/>
                                        </p:tgtEl>
                                      </p:cBhvr>
                                    </p:animEffect>
                                  </p:childTnLst>
                                </p:cTn>
                              </p:par>
                              <p:par>
                                <p:cTn id="31" presetID="2" presetClass="entr" presetSubtype="2"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1000" fill="hold"/>
                                        <p:tgtEl>
                                          <p:spTgt spid="7"/>
                                        </p:tgtEl>
                                        <p:attrNameLst>
                                          <p:attrName>ppt_x</p:attrName>
                                        </p:attrNameLst>
                                      </p:cBhvr>
                                      <p:tavLst>
                                        <p:tav tm="0">
                                          <p:val>
                                            <p:strVal val="1+#ppt_w/2"/>
                                          </p:val>
                                        </p:tav>
                                        <p:tav tm="100000">
                                          <p:val>
                                            <p:strVal val="#ppt_x"/>
                                          </p:val>
                                        </p:tav>
                                      </p:tavLst>
                                    </p:anim>
                                    <p:anim calcmode="lin" valueType="num">
                                      <p:cBhvr additive="base">
                                        <p:cTn id="34" dur="1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 grpId="0"/>
      <p:bldP spid="26" grpId="0" bldLvl="0" animBg="1"/>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custDataLst>
              <p:tags r:id="rId1"/>
            </p:custDataLst>
          </p:nvPr>
        </p:nvGrpSpPr>
        <p:grpSpPr>
          <a:xfrm>
            <a:off x="869171" y="961936"/>
            <a:ext cx="9325621" cy="4083935"/>
            <a:chOff x="1003925" y="971461"/>
            <a:chExt cx="7219661" cy="4083935"/>
          </a:xfrm>
        </p:grpSpPr>
        <p:sp>
          <p:nvSpPr>
            <p:cNvPr id="20" name="îšľíḍe"/>
            <p:cNvSpPr/>
            <p:nvPr/>
          </p:nvSpPr>
          <p:spPr>
            <a:xfrm>
              <a:off x="1003925" y="971461"/>
              <a:ext cx="3185487" cy="923330"/>
            </a:xfrm>
            <a:prstGeom prst="rect">
              <a:avLst/>
            </a:prstGeom>
          </p:spPr>
          <p:txBody>
            <a:bodyPr wrap="square" lIns="91440" tIns="45720" rIns="91440" bIns="45720">
              <a:normAutofit/>
            </a:bodyPr>
            <a:lstStyle/>
            <a:p>
              <a:r>
                <a:rPr lang="zh-CN" altLang="en-US" sz="5400" b="1" dirty="0">
                  <a:solidFill>
                    <a:schemeClr val="accent1"/>
                  </a:solidFill>
                  <a:latin typeface="字魂160号-檀宋" panose="00000500000000000000" pitchFamily="2" charset="-122"/>
                  <a:ea typeface="字魂160号-檀宋" panose="00000500000000000000" pitchFamily="2" charset="-122"/>
                  <a:cs typeface="+mn-ea"/>
                  <a:sym typeface="字魂160号-檀宋" panose="00000500000000000000" pitchFamily="2" charset="-122"/>
                </a:rPr>
                <a:t>Contents</a:t>
              </a:r>
              <a:endParaRPr lang="zh-CN" altLang="en-US" sz="5400" b="1" dirty="0">
                <a:solidFill>
                  <a:schemeClr val="accent1"/>
                </a:solidFill>
                <a:latin typeface="字魂160号-檀宋" panose="00000500000000000000" pitchFamily="2" charset="-122"/>
                <a:ea typeface="字魂160号-檀宋" panose="00000500000000000000" pitchFamily="2" charset="-122"/>
                <a:cs typeface="+mn-ea"/>
                <a:sym typeface="字魂160号-檀宋" panose="00000500000000000000" pitchFamily="2" charset="-122"/>
              </a:endParaRPr>
            </a:p>
          </p:txBody>
        </p:sp>
        <p:grpSp>
          <p:nvGrpSpPr>
            <p:cNvPr id="36" name="组合 35"/>
            <p:cNvGrpSpPr/>
            <p:nvPr/>
          </p:nvGrpSpPr>
          <p:grpSpPr>
            <a:xfrm>
              <a:off x="1003926" y="2253139"/>
              <a:ext cx="7219660" cy="2802257"/>
              <a:chOff x="1003925" y="2633545"/>
              <a:chExt cx="7219660" cy="2802257"/>
            </a:xfrm>
          </p:grpSpPr>
          <p:cxnSp>
            <p:nvCxnSpPr>
              <p:cNvPr id="17" name="直接连接符 16"/>
              <p:cNvCxnSpPr/>
              <p:nvPr>
                <p:custDataLst>
                  <p:tags r:id="rId2"/>
                </p:custDataLst>
              </p:nvPr>
            </p:nvCxnSpPr>
            <p:spPr>
              <a:xfrm>
                <a:off x="1003925" y="5373775"/>
                <a:ext cx="2583636"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3"/>
                </p:custDataLst>
              </p:nvPr>
            </p:nvCxnSpPr>
            <p:spPr>
              <a:xfrm>
                <a:off x="5241414" y="5373775"/>
                <a:ext cx="2583636"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custDataLst>
                  <p:tags r:id="rId4"/>
                </p:custDataLst>
              </p:nvPr>
            </p:nvCxnSpPr>
            <p:spPr>
              <a:xfrm>
                <a:off x="1003925" y="3587181"/>
                <a:ext cx="2583636"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custDataLst>
                  <p:tags r:id="rId5"/>
                </p:custDataLst>
              </p:nvPr>
            </p:nvCxnSpPr>
            <p:spPr>
              <a:xfrm>
                <a:off x="5241414" y="3587181"/>
                <a:ext cx="2583636"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a:xfrm>
                <a:off x="1003925" y="2633545"/>
                <a:ext cx="7219660" cy="2802257"/>
                <a:chOff x="1003925" y="2633545"/>
                <a:chExt cx="7219660" cy="2802257"/>
              </a:xfrm>
            </p:grpSpPr>
            <p:sp>
              <p:nvSpPr>
                <p:cNvPr id="16" name="îṥḻîḓê"/>
                <p:cNvSpPr txBox="1"/>
                <p:nvPr>
                  <p:custDataLst>
                    <p:tags r:id="rId6"/>
                  </p:custDataLst>
                </p:nvPr>
              </p:nvSpPr>
              <p:spPr bwMode="auto">
                <a:xfrm>
                  <a:off x="2945426" y="4420139"/>
                  <a:ext cx="1040670" cy="101566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en-US" altLang="zh-CN" sz="4800" b="1" i="1" dirty="0">
                      <a:solidFill>
                        <a:schemeClr val="accent1"/>
                      </a:solidFill>
                      <a:latin typeface="字魂160号-檀宋" panose="00000500000000000000" pitchFamily="2" charset="-122"/>
                      <a:ea typeface="字魂160号-檀宋" panose="00000500000000000000" pitchFamily="2" charset="-122"/>
                      <a:cs typeface="+mn-ea"/>
                      <a:sym typeface="字魂160号-檀宋" panose="00000500000000000000" pitchFamily="2" charset="-122"/>
                    </a:rPr>
                    <a:t>03</a:t>
                  </a:r>
                  <a:endParaRPr lang="en-US" altLang="zh-CN" sz="4800" b="1" i="1" dirty="0">
                    <a:solidFill>
                      <a:schemeClr val="accent1"/>
                    </a:solidFill>
                    <a:latin typeface="字魂160号-檀宋" panose="00000500000000000000" pitchFamily="2" charset="-122"/>
                    <a:ea typeface="字魂160号-檀宋" panose="00000500000000000000" pitchFamily="2" charset="-122"/>
                    <a:cs typeface="+mn-ea"/>
                    <a:sym typeface="字魂160号-檀宋" panose="00000500000000000000" pitchFamily="2" charset="-122"/>
                  </a:endParaRPr>
                </a:p>
              </p:txBody>
            </p:sp>
            <p:sp>
              <p:nvSpPr>
                <p:cNvPr id="19" name="íş1íḋê"/>
                <p:cNvSpPr txBox="1"/>
                <p:nvPr>
                  <p:custDataLst>
                    <p:tags r:id="rId7"/>
                  </p:custDataLst>
                </p:nvPr>
              </p:nvSpPr>
              <p:spPr bwMode="auto">
                <a:xfrm>
                  <a:off x="1003925" y="4889871"/>
                  <a:ext cx="2583636" cy="445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buClrTx/>
                    <a:buSzTx/>
                    <a:buFontTx/>
                  </a:pPr>
                  <a:r>
                    <a:rPr lang="zh-CN" altLang="en-US" sz="20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105号-简雅黑" panose="00000500000000000000" pitchFamily="2" charset="-122"/>
                      <a:sym typeface="字魂160号-檀宋" panose="00000500000000000000" pitchFamily="2" charset="-122"/>
                    </a:rPr>
                    <a:t>技术路线与方法</a:t>
                  </a:r>
                  <a:endParaRPr lang="zh-CN" altLang="en-US" sz="20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105号-简雅黑" panose="00000500000000000000" pitchFamily="2" charset="-122"/>
                    <a:sym typeface="字魂160号-檀宋" panose="00000500000000000000" pitchFamily="2" charset="-122"/>
                  </a:endParaRPr>
                </a:p>
                <a:p>
                  <a:pPr algn="l">
                    <a:buClrTx/>
                    <a:buSzTx/>
                    <a:buFontTx/>
                  </a:pPr>
                  <a:endParaRPr lang="zh-CN" altLang="en-US" sz="20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105号-简雅黑" panose="00000500000000000000" pitchFamily="2" charset="-122"/>
                    <a:sym typeface="字魂160号-檀宋" panose="00000500000000000000" pitchFamily="2" charset="-122"/>
                  </a:endParaRPr>
                </a:p>
              </p:txBody>
            </p:sp>
            <p:sp>
              <p:nvSpPr>
                <p:cNvPr id="12" name="îSlídè"/>
                <p:cNvSpPr txBox="1"/>
                <p:nvPr>
                  <p:custDataLst>
                    <p:tags r:id="rId8"/>
                  </p:custDataLst>
                </p:nvPr>
              </p:nvSpPr>
              <p:spPr bwMode="auto">
                <a:xfrm>
                  <a:off x="7182915" y="4420139"/>
                  <a:ext cx="1040670" cy="101566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en-US" altLang="zh-CN" sz="4800" b="1" i="1" dirty="0">
                      <a:solidFill>
                        <a:schemeClr val="accent1"/>
                      </a:solidFill>
                      <a:latin typeface="字魂160号-檀宋" panose="00000500000000000000" pitchFamily="2" charset="-122"/>
                      <a:ea typeface="字魂160号-檀宋" panose="00000500000000000000" pitchFamily="2" charset="-122"/>
                      <a:cs typeface="+mn-ea"/>
                      <a:sym typeface="字魂160号-檀宋" panose="00000500000000000000" pitchFamily="2" charset="-122"/>
                    </a:rPr>
                    <a:t>04</a:t>
                  </a:r>
                  <a:endParaRPr lang="en-US" altLang="zh-CN" sz="4800" b="1" i="1" dirty="0">
                    <a:solidFill>
                      <a:schemeClr val="accent1"/>
                    </a:solidFill>
                    <a:latin typeface="字魂160号-檀宋" panose="00000500000000000000" pitchFamily="2" charset="-122"/>
                    <a:ea typeface="字魂160号-檀宋" panose="00000500000000000000" pitchFamily="2" charset="-122"/>
                    <a:cs typeface="+mn-ea"/>
                    <a:sym typeface="字魂160号-檀宋" panose="00000500000000000000" pitchFamily="2" charset="-122"/>
                  </a:endParaRPr>
                </a:p>
              </p:txBody>
            </p:sp>
            <p:sp>
              <p:nvSpPr>
                <p:cNvPr id="15" name="îş1îďè"/>
                <p:cNvSpPr txBox="1"/>
                <p:nvPr>
                  <p:custDataLst>
                    <p:tags r:id="rId9"/>
                  </p:custDataLst>
                </p:nvPr>
              </p:nvSpPr>
              <p:spPr bwMode="auto">
                <a:xfrm>
                  <a:off x="5241414" y="4889871"/>
                  <a:ext cx="2583636" cy="445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20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105号-简雅黑" panose="00000500000000000000" pitchFamily="2" charset="-122"/>
                      <a:sym typeface="字魂160号-檀宋" panose="00000500000000000000" pitchFamily="2" charset="-122"/>
                    </a:rPr>
                    <a:t>demo</a:t>
                  </a:r>
                  <a:r>
                    <a:rPr lang="zh-CN" altLang="en-US" sz="20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105号-简雅黑" panose="00000500000000000000" pitchFamily="2" charset="-122"/>
                      <a:sym typeface="字魂160号-檀宋" panose="00000500000000000000" pitchFamily="2" charset="-122"/>
                    </a:rPr>
                    <a:t>展示</a:t>
                  </a:r>
                  <a:endParaRPr lang="zh-CN" altLang="en-US" sz="20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105号-简雅黑" panose="00000500000000000000" pitchFamily="2" charset="-122"/>
                    <a:sym typeface="字魂160号-檀宋" panose="00000500000000000000" pitchFamily="2" charset="-122"/>
                  </a:endParaRPr>
                </a:p>
                <a:p>
                  <a:endParaRPr lang="zh-CN" altLang="en-US" sz="20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105号-简雅黑" panose="00000500000000000000" pitchFamily="2" charset="-122"/>
                    <a:sym typeface="字魂160号-檀宋" panose="00000500000000000000" pitchFamily="2" charset="-122"/>
                  </a:endParaRPr>
                </a:p>
              </p:txBody>
            </p:sp>
            <p:sp>
              <p:nvSpPr>
                <p:cNvPr id="30" name="îṥḻîḓê"/>
                <p:cNvSpPr txBox="1"/>
                <p:nvPr>
                  <p:custDataLst>
                    <p:tags r:id="rId10"/>
                  </p:custDataLst>
                </p:nvPr>
              </p:nvSpPr>
              <p:spPr bwMode="auto">
                <a:xfrm>
                  <a:off x="2945426" y="2633545"/>
                  <a:ext cx="1040670" cy="101566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en-US" altLang="zh-CN" sz="4800" b="1" i="1" dirty="0">
                      <a:solidFill>
                        <a:schemeClr val="accent1"/>
                      </a:solidFill>
                      <a:latin typeface="字魂160号-檀宋" panose="00000500000000000000" pitchFamily="2" charset="-122"/>
                      <a:ea typeface="字魂160号-檀宋" panose="00000500000000000000" pitchFamily="2" charset="-122"/>
                      <a:cs typeface="+mn-ea"/>
                      <a:sym typeface="字魂160号-檀宋" panose="00000500000000000000" pitchFamily="2" charset="-122"/>
                    </a:rPr>
                    <a:t>01</a:t>
                  </a:r>
                  <a:endParaRPr lang="en-US" altLang="zh-CN" sz="4800" b="1" i="1" dirty="0">
                    <a:solidFill>
                      <a:schemeClr val="accent1"/>
                    </a:solidFill>
                    <a:latin typeface="字魂160号-檀宋" panose="00000500000000000000" pitchFamily="2" charset="-122"/>
                    <a:ea typeface="字魂160号-檀宋" panose="00000500000000000000" pitchFamily="2" charset="-122"/>
                    <a:cs typeface="+mn-ea"/>
                    <a:sym typeface="字魂160号-檀宋" panose="00000500000000000000" pitchFamily="2" charset="-122"/>
                  </a:endParaRPr>
                </a:p>
              </p:txBody>
            </p:sp>
            <p:sp>
              <p:nvSpPr>
                <p:cNvPr id="33" name="íş1íḋê"/>
                <p:cNvSpPr txBox="1"/>
                <p:nvPr>
                  <p:custDataLst>
                    <p:tags r:id="rId11"/>
                  </p:custDataLst>
                </p:nvPr>
              </p:nvSpPr>
              <p:spPr bwMode="auto">
                <a:xfrm>
                  <a:off x="1003925" y="3103277"/>
                  <a:ext cx="2583636" cy="445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0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105号-简雅黑" panose="00000500000000000000" pitchFamily="2" charset="-122"/>
                      <a:sym typeface="字魂160号-檀宋" panose="00000500000000000000" pitchFamily="2" charset="-122"/>
                    </a:rPr>
                    <a:t>项目背景与现实意义</a:t>
                  </a:r>
                  <a:endParaRPr lang="zh-CN" altLang="en-US" sz="20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105号-简雅黑" panose="00000500000000000000" pitchFamily="2" charset="-122"/>
                    <a:sym typeface="字魂160号-檀宋" panose="00000500000000000000" pitchFamily="2" charset="-122"/>
                  </a:endParaRPr>
                </a:p>
              </p:txBody>
            </p:sp>
            <p:sp>
              <p:nvSpPr>
                <p:cNvPr id="26" name="îSlídè"/>
                <p:cNvSpPr txBox="1"/>
                <p:nvPr>
                  <p:custDataLst>
                    <p:tags r:id="rId12"/>
                  </p:custDataLst>
                </p:nvPr>
              </p:nvSpPr>
              <p:spPr bwMode="auto">
                <a:xfrm>
                  <a:off x="7182915" y="2633545"/>
                  <a:ext cx="1040670" cy="101566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en-US" altLang="zh-CN" sz="4800" b="1" i="1" dirty="0">
                      <a:solidFill>
                        <a:schemeClr val="accent1"/>
                      </a:solidFill>
                      <a:latin typeface="字魂160号-檀宋" panose="00000500000000000000" pitchFamily="2" charset="-122"/>
                      <a:ea typeface="字魂160号-檀宋" panose="00000500000000000000" pitchFamily="2" charset="-122"/>
                      <a:cs typeface="+mn-ea"/>
                      <a:sym typeface="字魂160号-檀宋" panose="00000500000000000000" pitchFamily="2" charset="-122"/>
                    </a:rPr>
                    <a:t>02</a:t>
                  </a:r>
                  <a:endParaRPr lang="en-US" altLang="zh-CN" sz="4800" b="1" i="1" dirty="0">
                    <a:solidFill>
                      <a:schemeClr val="accent1"/>
                    </a:solidFill>
                    <a:latin typeface="字魂160号-檀宋" panose="00000500000000000000" pitchFamily="2" charset="-122"/>
                    <a:ea typeface="字魂160号-檀宋" panose="00000500000000000000" pitchFamily="2" charset="-122"/>
                    <a:cs typeface="+mn-ea"/>
                    <a:sym typeface="字魂160号-檀宋" panose="00000500000000000000" pitchFamily="2" charset="-122"/>
                  </a:endParaRPr>
                </a:p>
              </p:txBody>
            </p:sp>
            <p:sp>
              <p:nvSpPr>
                <p:cNvPr id="29" name="îş1îďè"/>
                <p:cNvSpPr txBox="1"/>
                <p:nvPr>
                  <p:custDataLst>
                    <p:tags r:id="rId13"/>
                  </p:custDataLst>
                </p:nvPr>
              </p:nvSpPr>
              <p:spPr bwMode="auto">
                <a:xfrm>
                  <a:off x="5241414" y="3103277"/>
                  <a:ext cx="2583636" cy="445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0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105号-简雅黑" panose="00000500000000000000" pitchFamily="2" charset="-122"/>
                      <a:sym typeface="字魂160号-檀宋" panose="00000500000000000000" pitchFamily="2" charset="-122"/>
                    </a:rPr>
                    <a:t>项目创新点</a:t>
                  </a:r>
                  <a:endParaRPr lang="zh-CN" altLang="en-US" sz="20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105号-简雅黑" panose="00000500000000000000" pitchFamily="2" charset="-122"/>
                    <a:sym typeface="字魂160号-檀宋" panose="00000500000000000000" pitchFamily="2" charset="-122"/>
                  </a:endParaRPr>
                </a:p>
                <a:p>
                  <a:endParaRPr lang="zh-CN" altLang="en-US" sz="2000" dirty="0">
                    <a:solidFill>
                      <a:schemeClr val="tx1">
                        <a:lumMod val="75000"/>
                        <a:lumOff val="25000"/>
                      </a:schemeClr>
                    </a:solidFill>
                    <a:latin typeface="字魂160号-檀宋" panose="00000500000000000000" pitchFamily="2" charset="-122"/>
                    <a:ea typeface="字魂160号-檀宋" panose="00000500000000000000" pitchFamily="2" charset="-122"/>
                    <a:cs typeface="字魂105号-简雅黑" panose="00000500000000000000" pitchFamily="2" charset="-122"/>
                    <a:sym typeface="字魂160号-檀宋" panose="00000500000000000000" pitchFamily="2" charset="-122"/>
                  </a:endParaRPr>
                </a:p>
              </p:txBody>
            </p:sp>
          </p:grpSp>
        </p:grpSp>
      </p:grpSp>
      <p:grpSp>
        <p:nvGrpSpPr>
          <p:cNvPr id="43" name="组合 42"/>
          <p:cNvGrpSpPr/>
          <p:nvPr/>
        </p:nvGrpSpPr>
        <p:grpSpPr>
          <a:xfrm>
            <a:off x="11396656" y="-1"/>
            <a:ext cx="211068" cy="2079058"/>
            <a:chOff x="11396656" y="-1"/>
            <a:chExt cx="211068" cy="2079058"/>
          </a:xfrm>
          <a:solidFill>
            <a:schemeClr val="accent1"/>
          </a:solidFill>
        </p:grpSpPr>
        <p:sp>
          <p:nvSpPr>
            <p:cNvPr id="41" name="矩形 40"/>
            <p:cNvSpPr/>
            <p:nvPr/>
          </p:nvSpPr>
          <p:spPr>
            <a:xfrm>
              <a:off x="11396656" y="0"/>
              <a:ext cx="86284" cy="2079057"/>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60号-檀宋" panose="00000500000000000000" pitchFamily="2" charset="-122"/>
                <a:ea typeface="字魂160号-檀宋" panose="00000500000000000000" pitchFamily="2" charset="-122"/>
                <a:cs typeface="+mn-ea"/>
                <a:sym typeface="字魂160号-檀宋" panose="00000500000000000000" pitchFamily="2" charset="-122"/>
              </a:endParaRPr>
            </a:p>
          </p:txBody>
        </p:sp>
        <p:sp>
          <p:nvSpPr>
            <p:cNvPr id="42" name="矩形 41"/>
            <p:cNvSpPr/>
            <p:nvPr/>
          </p:nvSpPr>
          <p:spPr>
            <a:xfrm>
              <a:off x="11521440" y="-1"/>
              <a:ext cx="86284" cy="2079057"/>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60号-檀宋" panose="00000500000000000000" pitchFamily="2" charset="-122"/>
                <a:ea typeface="字魂160号-檀宋" panose="00000500000000000000" pitchFamily="2" charset="-122"/>
                <a:cs typeface="+mn-ea"/>
                <a:sym typeface="字魂160号-檀宋" panose="00000500000000000000" pitchFamily="2" charset="-122"/>
              </a:endParaRPr>
            </a:p>
          </p:txBody>
        </p:sp>
      </p:grpSp>
      <p:sp>
        <p:nvSpPr>
          <p:cNvPr id="39" name="文本框 38"/>
          <p:cNvSpPr txBox="1"/>
          <p:nvPr/>
        </p:nvSpPr>
        <p:spPr>
          <a:xfrm>
            <a:off x="0" y="6460099"/>
            <a:ext cx="1344231" cy="369332"/>
          </a:xfrm>
          <a:prstGeom prst="rect">
            <a:avLst/>
          </a:prstGeom>
          <a:noFill/>
        </p:spPr>
        <p:txBody>
          <a:bodyPr wrap="square">
            <a:spAutoFit/>
          </a:bodyPr>
          <a:lstStyle/>
          <a:p>
            <a:r>
              <a:rPr lang="zh-CN" altLang="en-US" b="0" i="0" dirty="0">
                <a:solidFill>
                  <a:schemeClr val="accent1"/>
                </a:solidFill>
                <a:effectLst/>
                <a:latin typeface="华文行楷" panose="02010800040101010101" pitchFamily="2" charset="-122"/>
                <a:ea typeface="华文行楷" panose="02010800040101010101" pitchFamily="2" charset="-122"/>
              </a:rPr>
              <a:t>实事求是</a:t>
            </a:r>
            <a:endParaRPr lang="zh-CN" altLang="en-US" dirty="0">
              <a:solidFill>
                <a:schemeClr val="accent1"/>
              </a:solidFill>
              <a:latin typeface="华文行楷" panose="02010800040101010101" pitchFamily="2" charset="-122"/>
              <a:ea typeface="华文行楷"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12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737995" y="2728595"/>
            <a:ext cx="8716645" cy="922020"/>
          </a:xfrm>
          <a:prstGeom prst="rect">
            <a:avLst/>
          </a:prstGeom>
          <a:noFill/>
        </p:spPr>
        <p:txBody>
          <a:bodyPr wrap="square" rtlCol="0">
            <a:spAutoFit/>
          </a:bodyPr>
          <a:lstStyle/>
          <a:p>
            <a:pPr algn="ctr"/>
            <a:r>
              <a:rPr lang="zh-CN" sz="5400" b="1">
                <a:solidFill>
                  <a:schemeClr val="tx2">
                    <a:lumMod val="75000"/>
                    <a:lumOff val="25000"/>
                  </a:schemeClr>
                </a:solidFill>
                <a:latin typeface="MiSans Normal" panose="00000500000000000000" charset="-122"/>
                <a:ea typeface="MiSans Normal" panose="00000500000000000000" charset="-122"/>
                <a:cs typeface="MiSans Normal" panose="00000500000000000000" charset="-122"/>
              </a:rPr>
              <a:t>项目背景与现实意义</a:t>
            </a:r>
            <a:endParaRPr lang="zh-CN" sz="5400" b="1">
              <a:solidFill>
                <a:schemeClr val="tx2">
                  <a:lumMod val="75000"/>
                  <a:lumOff val="25000"/>
                </a:schemeClr>
              </a:solidFill>
              <a:latin typeface="MiSans Normal" panose="00000500000000000000" charset="-122"/>
              <a:ea typeface="MiSans Normal" panose="00000500000000000000" charset="-122"/>
              <a:cs typeface="MiSans Normal" panose="00000500000000000000" charset="-122"/>
            </a:endParaRPr>
          </a:p>
        </p:txBody>
      </p:sp>
      <p:sp>
        <p:nvSpPr>
          <p:cNvPr id="23" name="流程图: 终止 22"/>
          <p:cNvSpPr/>
          <p:nvPr/>
        </p:nvSpPr>
        <p:spPr>
          <a:xfrm>
            <a:off x="5116830" y="5075555"/>
            <a:ext cx="1959610" cy="501015"/>
          </a:xfrm>
          <a:prstGeom prst="flowChartTerminator">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MiSans Normal" panose="00000500000000000000" charset="-122"/>
                <a:ea typeface="MiSans Normal" panose="00000500000000000000" charset="-122"/>
              </a:rPr>
              <a:t>P A R T . 0 1</a:t>
            </a:r>
            <a:endParaRPr lang="en-US" altLang="zh-CN">
              <a:latin typeface="MiSans Normal" panose="00000500000000000000" charset="-122"/>
              <a:ea typeface="MiSans Normal" panose="00000500000000000000" charset="-122"/>
            </a:endParaRPr>
          </a:p>
        </p:txBody>
      </p:sp>
      <p:sp>
        <p:nvSpPr>
          <p:cNvPr id="26" name="文本框 25"/>
          <p:cNvSpPr txBox="1"/>
          <p:nvPr/>
        </p:nvSpPr>
        <p:spPr>
          <a:xfrm>
            <a:off x="1720850" y="3915410"/>
            <a:ext cx="8750935" cy="368300"/>
          </a:xfrm>
          <a:prstGeom prst="rect">
            <a:avLst/>
          </a:prstGeom>
          <a:noFill/>
        </p:spPr>
        <p:txBody>
          <a:bodyPr wrap="square" rtlCol="0">
            <a:spAutoFit/>
          </a:bodyPr>
          <a:lstStyle/>
          <a:p>
            <a:pPr algn="ctr"/>
            <a:r>
              <a:rPr lang="zh-CN" altLang="en-US" i="1">
                <a:solidFill>
                  <a:schemeClr val="tx2">
                    <a:lumMod val="75000"/>
                    <a:lumOff val="25000"/>
                  </a:schemeClr>
                </a:solidFill>
                <a:latin typeface="MiSans Normal" panose="00000500000000000000" charset="-122"/>
                <a:ea typeface="MiSans Normal" panose="00000500000000000000" charset="-122"/>
              </a:rPr>
              <a:t>Research background and significance</a:t>
            </a:r>
            <a:endParaRPr lang="zh-CN" altLang="en-US" i="1">
              <a:solidFill>
                <a:schemeClr val="tx2">
                  <a:lumMod val="75000"/>
                  <a:lumOff val="25000"/>
                </a:schemeClr>
              </a:solidFill>
              <a:latin typeface="MiSans Normal" panose="00000500000000000000" charset="-122"/>
              <a:ea typeface="MiSans Normal" panose="00000500000000000000" charset="-122"/>
            </a:endParaRPr>
          </a:p>
        </p:txBody>
      </p:sp>
      <p:sp>
        <p:nvSpPr>
          <p:cNvPr id="2" name="文本框 1"/>
          <p:cNvSpPr txBox="1"/>
          <p:nvPr/>
        </p:nvSpPr>
        <p:spPr>
          <a:xfrm>
            <a:off x="4899660" y="1356995"/>
            <a:ext cx="2393950" cy="1106805"/>
          </a:xfrm>
          <a:prstGeom prst="rect">
            <a:avLst/>
          </a:prstGeom>
          <a:noFill/>
        </p:spPr>
        <p:txBody>
          <a:bodyPr wrap="square" rtlCol="0">
            <a:spAutoFit/>
          </a:bodyPr>
          <a:lstStyle/>
          <a:p>
            <a:pPr algn="ctr"/>
            <a:r>
              <a:rPr lang="en-US" altLang="zh-CN" sz="6600">
                <a:solidFill>
                  <a:schemeClr val="tx2">
                    <a:lumMod val="75000"/>
                    <a:lumOff val="25000"/>
                  </a:schemeClr>
                </a:solidFill>
                <a:latin typeface="MiSans Normal" panose="00000500000000000000" charset="-122"/>
                <a:ea typeface="MiSans Normal" panose="00000500000000000000" charset="-122"/>
              </a:rPr>
              <a:t>01</a:t>
            </a:r>
            <a:endParaRPr lang="en-US" altLang="zh-CN" sz="6600">
              <a:solidFill>
                <a:schemeClr val="tx2">
                  <a:lumMod val="75000"/>
                  <a:lumOff val="25000"/>
                </a:schemeClr>
              </a:solidFill>
              <a:latin typeface="MiSans Normal" panose="00000500000000000000" charset="-122"/>
              <a:ea typeface="MiSans Normal" panose="00000500000000000000" charset="-122"/>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7" name="直接连接符 16"/>
          <p:cNvCxnSpPr/>
          <p:nvPr/>
        </p:nvCxnSpPr>
        <p:spPr>
          <a:xfrm>
            <a:off x="439299" y="431906"/>
            <a:ext cx="0" cy="345325"/>
          </a:xfrm>
          <a:prstGeom prst="line">
            <a:avLst/>
          </a:prstGeom>
          <a:ln w="92075">
            <a:solidFill>
              <a:srgbClr val="122E66"/>
            </a:solidFill>
          </a:ln>
        </p:spPr>
        <p:style>
          <a:lnRef idx="1">
            <a:srgbClr val="0E58A3"/>
          </a:lnRef>
          <a:fillRef idx="0">
            <a:srgbClr val="0E58A3"/>
          </a:fillRef>
          <a:effectRef idx="0">
            <a:srgbClr val="0E58A3"/>
          </a:effectRef>
          <a:fontRef idx="minor">
            <a:srgbClr val="000000"/>
          </a:fontRef>
        </p:style>
      </p:cxnSp>
      <p:sp>
        <p:nvSpPr>
          <p:cNvPr id="24" name="文本框 23"/>
          <p:cNvSpPr txBox="1"/>
          <p:nvPr/>
        </p:nvSpPr>
        <p:spPr>
          <a:xfrm>
            <a:off x="525924" y="413052"/>
            <a:ext cx="645449" cy="398780"/>
          </a:xfrm>
          <a:prstGeom prst="rect">
            <a:avLst/>
          </a:prstGeom>
          <a:noFill/>
        </p:spPr>
        <p:txBody>
          <a:bodyPr wrap="square" rtlCol="0">
            <a:spAutoFit/>
          </a:bodyPr>
          <a:lstStyle/>
          <a:p>
            <a:r>
              <a:rPr lang="en-US" altLang="zh-CN" sz="2000" dirty="0">
                <a:latin typeface="OPPOSans B" panose="00020600040101010101" pitchFamily="18" charset="-122"/>
                <a:ea typeface="OPPOSans B" panose="00020600040101010101" pitchFamily="18" charset="-122"/>
                <a:cs typeface="OPPOSans B" panose="00020600040101010101" pitchFamily="18" charset="-122"/>
              </a:rPr>
              <a:t>1</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sp>
        <p:nvSpPr>
          <p:cNvPr id="23" name="文本框 22"/>
          <p:cNvSpPr txBox="1"/>
          <p:nvPr/>
        </p:nvSpPr>
        <p:spPr>
          <a:xfrm>
            <a:off x="721995" y="412750"/>
            <a:ext cx="3230245" cy="398780"/>
          </a:xfrm>
          <a:prstGeom prst="rect">
            <a:avLst/>
          </a:prstGeom>
          <a:noFill/>
        </p:spPr>
        <p:txBody>
          <a:bodyPr wrap="square" rtlCol="0">
            <a:spAutoFit/>
          </a:bodyPr>
          <a:lstStyle/>
          <a:p>
            <a:r>
              <a:rPr lang="en-US" altLang="zh-CN" sz="2000" dirty="0">
                <a:latin typeface="OPPOSans B" panose="00020600040101010101" pitchFamily="18" charset="-122"/>
                <a:ea typeface="OPPOSans B" panose="00020600040101010101" pitchFamily="18" charset="-122"/>
                <a:cs typeface="OPPOSans B" panose="00020600040101010101" pitchFamily="18" charset="-122"/>
              </a:rPr>
              <a:t> </a:t>
            </a:r>
            <a:r>
              <a:rPr lang="zh-CN" altLang="en-US" sz="2000" dirty="0">
                <a:latin typeface="OPPOSans B" panose="00020600040101010101" pitchFamily="18" charset="-122"/>
                <a:ea typeface="OPPOSans B" panose="00020600040101010101" pitchFamily="18" charset="-122"/>
                <a:cs typeface="OPPOSans B" panose="00020600040101010101" pitchFamily="18" charset="-122"/>
              </a:rPr>
              <a:t>研究背景与</a:t>
            </a:r>
            <a:r>
              <a:rPr lang="zh-CN" altLang="en-US" sz="2000" dirty="0">
                <a:latin typeface="OPPOSans B" panose="00020600040101010101" pitchFamily="18" charset="-122"/>
                <a:ea typeface="OPPOSans B" panose="00020600040101010101" pitchFamily="18" charset="-122"/>
                <a:cs typeface="OPPOSans B" panose="00020600040101010101" pitchFamily="18" charset="-122"/>
              </a:rPr>
              <a:t>现实意义</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cxnSp>
        <p:nvCxnSpPr>
          <p:cNvPr id="14" name="直接连接符 13"/>
          <p:cNvCxnSpPr/>
          <p:nvPr/>
        </p:nvCxnSpPr>
        <p:spPr>
          <a:xfrm flipV="1">
            <a:off x="-16631" y="1121789"/>
            <a:ext cx="11936730" cy="12065"/>
          </a:xfrm>
          <a:prstGeom prst="line">
            <a:avLst/>
          </a:prstGeom>
          <a:ln>
            <a:solidFill>
              <a:srgbClr val="FFFFFF">
                <a:lumMod val="85000"/>
              </a:srgbClr>
            </a:solidFill>
          </a:ln>
        </p:spPr>
        <p:style>
          <a:lnRef idx="1">
            <a:srgbClr val="0E58A3"/>
          </a:lnRef>
          <a:fillRef idx="0">
            <a:srgbClr val="0E58A3"/>
          </a:fillRef>
          <a:effectRef idx="0">
            <a:srgbClr val="0E58A3"/>
          </a:effectRef>
          <a:fontRef idx="minor">
            <a:srgbClr val="000000"/>
          </a:fontRef>
        </p:style>
      </p:cxnSp>
      <p:sp>
        <p:nvSpPr>
          <p:cNvPr id="3" name="文本框 2"/>
          <p:cNvSpPr txBox="1"/>
          <p:nvPr/>
        </p:nvSpPr>
        <p:spPr>
          <a:xfrm>
            <a:off x="439420" y="1951355"/>
            <a:ext cx="10422255" cy="1568450"/>
          </a:xfrm>
          <a:prstGeom prst="rect">
            <a:avLst/>
          </a:prstGeom>
        </p:spPr>
        <p:txBody>
          <a:bodyPr wrap="square">
            <a:spAutoFit/>
          </a:bodyPr>
          <a:p>
            <a:r>
              <a:rPr lang="en-US" altLang="zh-CN" sz="1600" b="1"/>
              <a:t>Motivation</a:t>
            </a:r>
            <a:r>
              <a:rPr lang="zh-CN" altLang="en-US" sz="1600" b="1"/>
              <a:t>：</a:t>
            </a:r>
            <a:endParaRPr lang="zh-CN" altLang="en-US" sz="1600" b="1"/>
          </a:p>
          <a:p>
            <a:pPr indent="457200"/>
            <a:r>
              <a:rPr lang="zh-CN" altLang="en-US" sz="1600"/>
              <a:t>随着人机交互技术的快速发展，计算机不再仅仅是工具，更逐步承担起</a:t>
            </a:r>
            <a:r>
              <a:rPr lang="en-US" altLang="zh-CN" sz="1600"/>
              <a:t>“</a:t>
            </a:r>
            <a:r>
              <a:rPr lang="zh-CN" altLang="en-US" sz="1600"/>
              <a:t>数字伙伴</a:t>
            </a:r>
            <a:r>
              <a:rPr lang="en-US" altLang="zh-CN" sz="1600"/>
              <a:t>”</a:t>
            </a:r>
            <a:r>
              <a:rPr lang="zh-CN" altLang="en-US" sz="1600"/>
              <a:t>的角色。然而，当前大多数人机交互系统缺乏对用户情绪状态的感知能力，导致交互过程机械、冰冷，难以建立情感层面的连接。</a:t>
            </a:r>
            <a:r>
              <a:rPr lang="zh-CN" altLang="en-US" sz="1600">
                <a:sym typeface="+mn-ea"/>
              </a:rPr>
              <a:t>随着虚拟数字人、</a:t>
            </a:r>
            <a:r>
              <a:rPr lang="en-US" altLang="zh-CN" sz="1600">
                <a:sym typeface="+mn-ea"/>
              </a:rPr>
              <a:t>AIGC </a:t>
            </a:r>
            <a:r>
              <a:rPr lang="zh-CN" altLang="en-US" sz="1600">
                <a:sym typeface="+mn-ea"/>
              </a:rPr>
              <a:t>与智能陪伴系统的发展，用户对于</a:t>
            </a:r>
            <a:r>
              <a:rPr lang="en-US" altLang="zh-CN" sz="1600">
                <a:sym typeface="+mn-ea"/>
              </a:rPr>
              <a:t>“</a:t>
            </a:r>
            <a:r>
              <a:rPr lang="zh-CN" altLang="en-US" sz="1600">
                <a:sym typeface="+mn-ea"/>
              </a:rPr>
              <a:t>具有情感反馈能力</a:t>
            </a:r>
            <a:r>
              <a:rPr lang="en-US" altLang="zh-CN" sz="1600">
                <a:sym typeface="+mn-ea"/>
              </a:rPr>
              <a:t>”</a:t>
            </a:r>
            <a:r>
              <a:rPr lang="zh-CN" altLang="en-US" sz="1600">
                <a:sym typeface="+mn-ea"/>
              </a:rPr>
              <a:t>的</a:t>
            </a:r>
            <a:r>
              <a:rPr lang="en-US" altLang="zh-CN" sz="1600">
                <a:sym typeface="+mn-ea"/>
              </a:rPr>
              <a:t> AI </a:t>
            </a:r>
            <a:r>
              <a:rPr lang="zh-CN" altLang="en-US" sz="1600">
                <a:sym typeface="+mn-ea"/>
              </a:rPr>
              <a:t>需求快速提升。</a:t>
            </a:r>
            <a:endParaRPr lang="zh-CN" altLang="en-US" sz="1600">
              <a:sym typeface="+mn-ea"/>
            </a:endParaRPr>
          </a:p>
          <a:p>
            <a:pPr indent="457200"/>
            <a:r>
              <a:rPr lang="zh-CN" altLang="en-US" sz="1600"/>
              <a:t>本作品旨在设计并实现一个基于多模态情绪感知的数字分身桌宠系统</a:t>
            </a:r>
            <a:r>
              <a:rPr lang="en-US" altLang="zh-CN" sz="1600"/>
              <a:t>——Emotion Mirror</a:t>
            </a:r>
            <a:r>
              <a:rPr lang="zh-CN" altLang="en-US" sz="1600"/>
              <a:t>，通过文本、语音两种模态实时感知用户情绪，驱动虚拟数字分身进行情绪化的动态反馈交互。</a:t>
            </a:r>
            <a:endParaRPr lang="zh-CN" altLang="en-US" sz="1600"/>
          </a:p>
        </p:txBody>
      </p:sp>
      <p:sp>
        <p:nvSpPr>
          <p:cNvPr id="41" name="文本框 40"/>
          <p:cNvSpPr txBox="1"/>
          <p:nvPr/>
        </p:nvSpPr>
        <p:spPr>
          <a:xfrm>
            <a:off x="439420" y="3752850"/>
            <a:ext cx="10422890" cy="1076325"/>
          </a:xfrm>
          <a:prstGeom prst="rect">
            <a:avLst/>
          </a:prstGeom>
        </p:spPr>
        <p:txBody>
          <a:bodyPr wrap="square">
            <a:spAutoFit/>
          </a:bodyPr>
          <a:p>
            <a:r>
              <a:rPr lang="en-US" altLang="zh-CN" sz="1600" b="1">
                <a:sym typeface="+mn-ea"/>
              </a:rPr>
              <a:t>This Work Proposes a EmotionMirror</a:t>
            </a:r>
            <a:r>
              <a:rPr lang="zh-CN" altLang="en-US" sz="1600" b="1">
                <a:sym typeface="+mn-ea"/>
              </a:rPr>
              <a:t>：</a:t>
            </a:r>
            <a:endParaRPr lang="zh-CN" altLang="en-US" sz="1600" b="1">
              <a:sym typeface="+mn-ea"/>
            </a:endParaRPr>
          </a:p>
          <a:p>
            <a:pPr indent="457200"/>
            <a:r>
              <a:rPr lang="zh-CN" altLang="en-US" sz="1600"/>
              <a:t>这是一个开箱即用的端到端多模态情绪感知数字分身系统。用户通过文本或语音输入情绪内容，系统自动完成情绪识别、情绪向量生成、个性化表情驱动全流程，最终输出带有</a:t>
            </a:r>
            <a:r>
              <a:rPr lang="en-US" altLang="zh-CN" sz="1600"/>
              <a:t>3D</a:t>
            </a:r>
            <a:r>
              <a:rPr lang="zh-CN" altLang="en-US" sz="1600"/>
              <a:t>微动效果的数字人情绪镜像，并且可以在桌面进行</a:t>
            </a:r>
            <a:r>
              <a:rPr lang="zh-CN" altLang="en-US" sz="1600"/>
              <a:t>操作。整个链路无需手动调参，上传一张照片即可获得千人千面的情绪化数字分身。</a:t>
            </a:r>
            <a:endParaRPr lang="zh-CN" altLang="en-US"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737995" y="2728595"/>
            <a:ext cx="8716645" cy="922020"/>
          </a:xfrm>
          <a:prstGeom prst="rect">
            <a:avLst/>
          </a:prstGeom>
          <a:noFill/>
        </p:spPr>
        <p:txBody>
          <a:bodyPr wrap="square" rtlCol="0">
            <a:spAutoFit/>
          </a:bodyPr>
          <a:lstStyle/>
          <a:p>
            <a:pPr algn="ctr"/>
            <a:r>
              <a:rPr lang="zh-CN" sz="5400" b="1">
                <a:solidFill>
                  <a:schemeClr val="tx2">
                    <a:lumMod val="75000"/>
                    <a:lumOff val="25000"/>
                  </a:schemeClr>
                </a:solidFill>
                <a:latin typeface="MiSans Normal" panose="00000500000000000000" charset="-122"/>
                <a:ea typeface="MiSans Normal" panose="00000500000000000000" charset="-122"/>
                <a:cs typeface="MiSans Normal" panose="00000500000000000000" charset="-122"/>
              </a:rPr>
              <a:t>项目创新点</a:t>
            </a:r>
            <a:endParaRPr lang="zh-CN" sz="5400" b="1">
              <a:solidFill>
                <a:schemeClr val="tx2">
                  <a:lumMod val="75000"/>
                  <a:lumOff val="25000"/>
                </a:schemeClr>
              </a:solidFill>
              <a:latin typeface="MiSans Normal" panose="00000500000000000000" charset="-122"/>
              <a:ea typeface="MiSans Normal" panose="00000500000000000000" charset="-122"/>
              <a:cs typeface="MiSans Normal" panose="00000500000000000000" charset="-122"/>
            </a:endParaRPr>
          </a:p>
        </p:txBody>
      </p:sp>
      <p:sp>
        <p:nvSpPr>
          <p:cNvPr id="23" name="流程图: 终止 22"/>
          <p:cNvSpPr/>
          <p:nvPr/>
        </p:nvSpPr>
        <p:spPr>
          <a:xfrm>
            <a:off x="5116830" y="5075555"/>
            <a:ext cx="1959610" cy="501015"/>
          </a:xfrm>
          <a:prstGeom prst="flowChartTerminator">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MiSans Normal" panose="00000500000000000000" charset="-122"/>
                <a:ea typeface="MiSans Normal" panose="00000500000000000000" charset="-122"/>
              </a:rPr>
              <a:t>P A R T . 0 2</a:t>
            </a:r>
            <a:endParaRPr lang="en-US" altLang="zh-CN">
              <a:latin typeface="MiSans Normal" panose="00000500000000000000" charset="-122"/>
              <a:ea typeface="MiSans Normal" panose="00000500000000000000" charset="-122"/>
            </a:endParaRPr>
          </a:p>
        </p:txBody>
      </p:sp>
      <p:sp>
        <p:nvSpPr>
          <p:cNvPr id="26" name="文本框 25"/>
          <p:cNvSpPr txBox="1"/>
          <p:nvPr/>
        </p:nvSpPr>
        <p:spPr>
          <a:xfrm>
            <a:off x="1720850" y="3915410"/>
            <a:ext cx="8750935" cy="368300"/>
          </a:xfrm>
          <a:prstGeom prst="rect">
            <a:avLst/>
          </a:prstGeom>
          <a:noFill/>
        </p:spPr>
        <p:txBody>
          <a:bodyPr wrap="square" rtlCol="0">
            <a:spAutoFit/>
          </a:bodyPr>
          <a:lstStyle/>
          <a:p>
            <a:pPr algn="ctr"/>
            <a:r>
              <a:rPr lang="zh-CN" altLang="en-US" i="1">
                <a:solidFill>
                  <a:schemeClr val="tx2">
                    <a:lumMod val="75000"/>
                    <a:lumOff val="25000"/>
                  </a:schemeClr>
                </a:solidFill>
                <a:latin typeface="MiSans Normal" panose="00000500000000000000" charset="-122"/>
                <a:ea typeface="MiSans Normal" panose="00000500000000000000" charset="-122"/>
              </a:rPr>
              <a:t>Project innovation</a:t>
            </a:r>
            <a:endParaRPr lang="zh-CN" altLang="en-US" i="1">
              <a:solidFill>
                <a:schemeClr val="tx2">
                  <a:lumMod val="75000"/>
                  <a:lumOff val="25000"/>
                </a:schemeClr>
              </a:solidFill>
              <a:latin typeface="MiSans Normal" panose="00000500000000000000" charset="-122"/>
              <a:ea typeface="MiSans Normal" panose="00000500000000000000" charset="-122"/>
            </a:endParaRPr>
          </a:p>
        </p:txBody>
      </p:sp>
      <p:sp>
        <p:nvSpPr>
          <p:cNvPr id="2" name="文本框 1"/>
          <p:cNvSpPr txBox="1"/>
          <p:nvPr/>
        </p:nvSpPr>
        <p:spPr>
          <a:xfrm>
            <a:off x="4899660" y="1356995"/>
            <a:ext cx="2393950" cy="1106805"/>
          </a:xfrm>
          <a:prstGeom prst="rect">
            <a:avLst/>
          </a:prstGeom>
          <a:noFill/>
        </p:spPr>
        <p:txBody>
          <a:bodyPr wrap="square" rtlCol="0">
            <a:spAutoFit/>
          </a:bodyPr>
          <a:lstStyle/>
          <a:p>
            <a:pPr algn="ctr"/>
            <a:r>
              <a:rPr lang="en-US" altLang="zh-CN" sz="6600">
                <a:solidFill>
                  <a:schemeClr val="tx2">
                    <a:lumMod val="75000"/>
                    <a:lumOff val="25000"/>
                  </a:schemeClr>
                </a:solidFill>
                <a:latin typeface="MiSans Normal" panose="00000500000000000000" charset="-122"/>
                <a:ea typeface="MiSans Normal" panose="00000500000000000000" charset="-122"/>
              </a:rPr>
              <a:t>02</a:t>
            </a:r>
            <a:endParaRPr lang="en-US" altLang="zh-CN" sz="6600">
              <a:solidFill>
                <a:schemeClr val="tx2">
                  <a:lumMod val="75000"/>
                  <a:lumOff val="25000"/>
                </a:schemeClr>
              </a:solidFill>
              <a:latin typeface="MiSans Normal" panose="00000500000000000000" charset="-122"/>
              <a:ea typeface="MiSans Normal" panose="00000500000000000000" charset="-122"/>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7" name="直接连接符 16"/>
          <p:cNvCxnSpPr/>
          <p:nvPr/>
        </p:nvCxnSpPr>
        <p:spPr>
          <a:xfrm>
            <a:off x="439299" y="431906"/>
            <a:ext cx="0" cy="345325"/>
          </a:xfrm>
          <a:prstGeom prst="line">
            <a:avLst/>
          </a:prstGeom>
          <a:ln w="92075">
            <a:solidFill>
              <a:srgbClr val="122E66"/>
            </a:solidFill>
          </a:ln>
        </p:spPr>
        <p:style>
          <a:lnRef idx="1">
            <a:srgbClr val="0E58A3"/>
          </a:lnRef>
          <a:fillRef idx="0">
            <a:srgbClr val="0E58A3"/>
          </a:fillRef>
          <a:effectRef idx="0">
            <a:srgbClr val="0E58A3"/>
          </a:effectRef>
          <a:fontRef idx="minor">
            <a:srgbClr val="000000"/>
          </a:fontRef>
        </p:style>
      </p:cxnSp>
      <p:sp>
        <p:nvSpPr>
          <p:cNvPr id="24" name="文本框 23"/>
          <p:cNvSpPr txBox="1"/>
          <p:nvPr/>
        </p:nvSpPr>
        <p:spPr>
          <a:xfrm>
            <a:off x="525924" y="413052"/>
            <a:ext cx="645449" cy="398780"/>
          </a:xfrm>
          <a:prstGeom prst="rect">
            <a:avLst/>
          </a:prstGeom>
          <a:noFill/>
        </p:spPr>
        <p:txBody>
          <a:bodyPr wrap="square" rtlCol="0">
            <a:spAutoFit/>
          </a:bodyPr>
          <a:lstStyle/>
          <a:p>
            <a:r>
              <a:rPr lang="en-US" altLang="zh-CN" sz="2000" dirty="0">
                <a:latin typeface="OPPOSans B" panose="00020600040101010101" pitchFamily="18" charset="-122"/>
                <a:ea typeface="OPPOSans B" panose="00020600040101010101" pitchFamily="18" charset="-122"/>
                <a:cs typeface="OPPOSans B" panose="00020600040101010101" pitchFamily="18" charset="-122"/>
              </a:rPr>
              <a:t>2</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sp>
        <p:nvSpPr>
          <p:cNvPr id="23" name="文本框 22"/>
          <p:cNvSpPr txBox="1"/>
          <p:nvPr/>
        </p:nvSpPr>
        <p:spPr>
          <a:xfrm>
            <a:off x="772795" y="412750"/>
            <a:ext cx="2076450" cy="398780"/>
          </a:xfrm>
          <a:prstGeom prst="rect">
            <a:avLst/>
          </a:prstGeom>
          <a:noFill/>
        </p:spPr>
        <p:txBody>
          <a:bodyPr wrap="square" rtlCol="0">
            <a:spAutoFit/>
          </a:bodyPr>
          <a:lstStyle/>
          <a:p>
            <a:pPr algn="l">
              <a:lnSpc>
                <a:spcPct val="100000"/>
              </a:lnSpc>
              <a:buClrTx/>
              <a:buSzTx/>
              <a:buFontTx/>
            </a:pPr>
            <a:r>
              <a:rPr lang="zh-CN" altLang="en-US" sz="2000" dirty="0">
                <a:latin typeface="OPPOSans B" panose="00020600040101010101" pitchFamily="18" charset="-122"/>
                <a:ea typeface="OPPOSans B" panose="00020600040101010101" pitchFamily="18" charset="-122"/>
                <a:cs typeface="OPPOSans B" panose="00020600040101010101" pitchFamily="18" charset="-122"/>
              </a:rPr>
              <a:t>项目</a:t>
            </a:r>
            <a:r>
              <a:rPr lang="zh-CN" altLang="en-US" sz="2000" dirty="0">
                <a:latin typeface="OPPOSans B" panose="00020600040101010101" pitchFamily="18" charset="-122"/>
                <a:ea typeface="OPPOSans B" panose="00020600040101010101" pitchFamily="18" charset="-122"/>
                <a:cs typeface="OPPOSans B" panose="00020600040101010101" pitchFamily="18" charset="-122"/>
              </a:rPr>
              <a:t>创新性</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cxnSp>
        <p:nvCxnSpPr>
          <p:cNvPr id="14" name="直接连接符 13"/>
          <p:cNvCxnSpPr/>
          <p:nvPr/>
        </p:nvCxnSpPr>
        <p:spPr>
          <a:xfrm flipV="1">
            <a:off x="-16631" y="1121789"/>
            <a:ext cx="11936730" cy="12065"/>
          </a:xfrm>
          <a:prstGeom prst="line">
            <a:avLst/>
          </a:prstGeom>
          <a:ln>
            <a:solidFill>
              <a:srgbClr val="FFFFFF">
                <a:lumMod val="85000"/>
              </a:srgbClr>
            </a:solidFill>
          </a:ln>
        </p:spPr>
        <p:style>
          <a:lnRef idx="1">
            <a:srgbClr val="0E58A3"/>
          </a:lnRef>
          <a:fillRef idx="0">
            <a:srgbClr val="0E58A3"/>
          </a:fillRef>
          <a:effectRef idx="0">
            <a:srgbClr val="0E58A3"/>
          </a:effectRef>
          <a:fontRef idx="minor">
            <a:srgbClr val="000000"/>
          </a:fontRef>
        </p:style>
      </p:cxnSp>
      <p:sp>
        <p:nvSpPr>
          <p:cNvPr id="3" name="文本框 2"/>
          <p:cNvSpPr txBox="1"/>
          <p:nvPr/>
        </p:nvSpPr>
        <p:spPr>
          <a:xfrm>
            <a:off x="439420" y="1621790"/>
            <a:ext cx="10422255" cy="4276725"/>
          </a:xfrm>
          <a:prstGeom prst="rect">
            <a:avLst/>
          </a:prstGeom>
        </p:spPr>
        <p:txBody>
          <a:bodyPr wrap="square">
            <a:spAutoFit/>
          </a:bodyPr>
          <a:p>
            <a:r>
              <a:rPr lang="zh-CN" altLang="en-US" sz="1600" b="1"/>
              <a:t>模态统一情绪向量表示：</a:t>
            </a:r>
            <a:endParaRPr lang="zh-CN" altLang="en-US" sz="1600" b="1"/>
          </a:p>
          <a:p>
            <a:pPr indent="457200"/>
            <a:r>
              <a:rPr lang="zh-CN" altLang="en-US" sz="1600">
                <a:sym typeface="+mn-ea"/>
              </a:rPr>
              <a:t>支持文本和语音两种异构输入模态，分别通过规则驱动引擎和 LSTM 模型进行情绪识别，两种模态的输出统一映射为 V-A-D 三维情绪向量+ 8 类中文情绪标签，在同一向量空间中实现标准化情绪表示，为后续扩展更多模态提供即插即用的接口规范。</a:t>
            </a:r>
            <a:endParaRPr lang="zh-CN" altLang="en-US" sz="1600">
              <a:sym typeface="+mn-ea"/>
            </a:endParaRPr>
          </a:p>
          <a:p>
            <a:pPr indent="457200"/>
            <a:endParaRPr lang="zh-CN" altLang="en-US" sz="1600">
              <a:sym typeface="+mn-ea"/>
            </a:endParaRPr>
          </a:p>
          <a:p>
            <a:pPr algn="l">
              <a:buClrTx/>
              <a:buSzTx/>
              <a:buFontTx/>
            </a:pPr>
            <a:r>
              <a:rPr lang="zh-CN" altLang="en-US" sz="1600" b="1">
                <a:sym typeface="+mn-ea"/>
              </a:rPr>
              <a:t>个性化数字分身定制：</a:t>
            </a:r>
            <a:endParaRPr lang="zh-CN" altLang="en-US" sz="1600" b="1"/>
          </a:p>
          <a:p>
            <a:pPr indent="457200"/>
            <a:r>
              <a:rPr lang="zh-CN" altLang="en-US" sz="1600">
                <a:sym typeface="+mn-ea"/>
              </a:rPr>
              <a:t>用户可上传任意个人照片（自拍</a:t>
            </a:r>
            <a:r>
              <a:rPr lang="en-US" altLang="zh-CN" sz="1600">
                <a:sym typeface="+mn-ea"/>
              </a:rPr>
              <a:t>/</a:t>
            </a:r>
            <a:r>
              <a:rPr lang="zh-CN" altLang="en-US" sz="1600">
                <a:sym typeface="+mn-ea"/>
              </a:rPr>
              <a:t>二次元</a:t>
            </a:r>
            <a:r>
              <a:rPr lang="en-US" altLang="zh-CN" sz="1600">
                <a:sym typeface="+mn-ea"/>
              </a:rPr>
              <a:t>/</a:t>
            </a:r>
            <a:r>
              <a:rPr lang="zh-CN" altLang="en-US" sz="1600">
                <a:sym typeface="+mn-ea"/>
              </a:rPr>
              <a:t>卡通），系统通过</a:t>
            </a:r>
            <a:r>
              <a:rPr lang="en-US" altLang="zh-CN" sz="1600">
                <a:sym typeface="+mn-ea"/>
              </a:rPr>
              <a:t>rembg</a:t>
            </a:r>
            <a:r>
              <a:rPr lang="zh-CN" altLang="en-US" sz="1600">
                <a:sym typeface="+mn-ea"/>
              </a:rPr>
              <a:t>自动去除背景、</a:t>
            </a:r>
            <a:r>
              <a:rPr lang="en-US" altLang="zh-CN" sz="1600">
                <a:sym typeface="+mn-ea"/>
              </a:rPr>
              <a:t>LivePortrait</a:t>
            </a:r>
            <a:r>
              <a:rPr lang="zh-CN" altLang="en-US" sz="1600">
                <a:sym typeface="+mn-ea"/>
              </a:rPr>
              <a:t>提取人脸特征并重定向表情，实现千人千面的情绪化数字分身，突破了预设表情素材库的局限性。</a:t>
            </a:r>
            <a:endParaRPr lang="zh-CN" altLang="en-US" sz="1600">
              <a:sym typeface="+mn-ea"/>
            </a:endParaRPr>
          </a:p>
          <a:p>
            <a:pPr indent="457200"/>
            <a:endParaRPr lang="zh-CN" altLang="en-US" sz="1600">
              <a:sym typeface="+mn-ea"/>
            </a:endParaRPr>
          </a:p>
          <a:p>
            <a:pPr algn="l">
              <a:buClrTx/>
              <a:buSzTx/>
              <a:buFontTx/>
            </a:pPr>
            <a:r>
              <a:rPr lang="zh-CN" altLang="en-US" sz="1600" b="1">
                <a:sym typeface="+mn-ea"/>
              </a:rPr>
              <a:t>端到端的数字人情绪表示系统：</a:t>
            </a:r>
            <a:endParaRPr lang="zh-CN" altLang="en-US" sz="1600" b="1"/>
          </a:p>
          <a:p>
            <a:pPr indent="457200"/>
            <a:r>
              <a:rPr lang="zh-CN" altLang="en-US" sz="1600">
                <a:sym typeface="+mn-ea"/>
              </a:rPr>
              <a:t>区别于传统情感分析系统仅输出分类标签的做法，本作品将情绪识别结果直接映射为</a:t>
            </a:r>
            <a:r>
              <a:rPr lang="en-US" altLang="zh-CN" sz="1600">
                <a:sym typeface="+mn-ea"/>
              </a:rPr>
              <a:t> LivePortrait </a:t>
            </a:r>
            <a:r>
              <a:rPr lang="zh-CN" altLang="en-US" sz="1600">
                <a:sym typeface="+mn-ea"/>
              </a:rPr>
              <a:t>面部动作参数（微笑、眉毛、眼球方向、唇部变化等），基于用户上传的个人照片生成个性化的表情动画</a:t>
            </a:r>
            <a:r>
              <a:rPr lang="en-US" altLang="zh-CN" sz="1600">
                <a:sym typeface="+mn-ea"/>
              </a:rPr>
              <a:t> GIF</a:t>
            </a:r>
            <a:r>
              <a:rPr lang="zh-CN" altLang="en-US" sz="1600">
                <a:sym typeface="+mn-ea"/>
              </a:rPr>
              <a:t>。</a:t>
            </a:r>
            <a:endParaRPr lang="zh-CN" altLang="en-US" sz="1600">
              <a:sym typeface="+mn-ea"/>
            </a:endParaRPr>
          </a:p>
          <a:p>
            <a:pPr indent="457200"/>
            <a:endParaRPr lang="zh-CN" altLang="en-US" sz="1600"/>
          </a:p>
          <a:p>
            <a:pPr algn="l">
              <a:buClrTx/>
              <a:buSzTx/>
              <a:buFontTx/>
            </a:pPr>
            <a:r>
              <a:rPr lang="zh-CN" altLang="en-US" sz="1600" b="1">
                <a:sym typeface="+mn-ea"/>
              </a:rPr>
              <a:t>便携的桌宠交互</a:t>
            </a:r>
            <a:r>
              <a:rPr lang="zh-CN" altLang="en-US" sz="1600" b="1">
                <a:sym typeface="+mn-ea"/>
              </a:rPr>
              <a:t>系统：</a:t>
            </a:r>
            <a:endParaRPr lang="zh-CN" altLang="en-US" sz="1600" b="1"/>
          </a:p>
          <a:p>
            <a:pPr indent="457200"/>
            <a:r>
              <a:rPr lang="en-US" altLang="zh-CN" sz="1600">
                <a:sym typeface="+mn-ea"/>
              </a:rPr>
              <a:t>...</a:t>
            </a:r>
            <a:endParaRPr lang="zh-CN" altLang="en-US" sz="1600">
              <a:sym typeface="+mn-ea"/>
            </a:endParaRPr>
          </a:p>
          <a:p>
            <a:pPr indent="457200"/>
            <a:endParaRPr lang="zh-CN" altLang="en-US" sz="1600"/>
          </a:p>
          <a:p>
            <a:pPr indent="457200"/>
            <a:endParaRPr lang="zh-CN" altLang="en-US" sz="16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737995" y="2728595"/>
            <a:ext cx="8716645" cy="922020"/>
          </a:xfrm>
          <a:prstGeom prst="rect">
            <a:avLst/>
          </a:prstGeom>
          <a:noFill/>
        </p:spPr>
        <p:txBody>
          <a:bodyPr wrap="square" rtlCol="0">
            <a:spAutoFit/>
          </a:bodyPr>
          <a:lstStyle/>
          <a:p>
            <a:pPr algn="ctr"/>
            <a:r>
              <a:rPr lang="zh-CN" sz="5400" b="1">
                <a:solidFill>
                  <a:schemeClr val="tx2">
                    <a:lumMod val="75000"/>
                    <a:lumOff val="25000"/>
                  </a:schemeClr>
                </a:solidFill>
                <a:latin typeface="MiSans Normal" panose="00000500000000000000" charset="-122"/>
                <a:ea typeface="MiSans Normal" panose="00000500000000000000" charset="-122"/>
                <a:cs typeface="MiSans Normal" panose="00000500000000000000" charset="-122"/>
              </a:rPr>
              <a:t>技术路线与方法</a:t>
            </a:r>
            <a:endParaRPr lang="zh-CN" sz="5400" b="1">
              <a:solidFill>
                <a:schemeClr val="tx2">
                  <a:lumMod val="75000"/>
                  <a:lumOff val="25000"/>
                </a:schemeClr>
              </a:solidFill>
              <a:latin typeface="MiSans Normal" panose="00000500000000000000" charset="-122"/>
              <a:ea typeface="MiSans Normal" panose="00000500000000000000" charset="-122"/>
              <a:cs typeface="MiSans Normal" panose="00000500000000000000" charset="-122"/>
            </a:endParaRPr>
          </a:p>
        </p:txBody>
      </p:sp>
      <p:sp>
        <p:nvSpPr>
          <p:cNvPr id="23" name="流程图: 终止 22"/>
          <p:cNvSpPr/>
          <p:nvPr/>
        </p:nvSpPr>
        <p:spPr>
          <a:xfrm>
            <a:off x="5116830" y="5075555"/>
            <a:ext cx="1959610" cy="501015"/>
          </a:xfrm>
          <a:prstGeom prst="flowChartTerminator">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MiSans Normal" panose="00000500000000000000" charset="-122"/>
                <a:ea typeface="MiSans Normal" panose="00000500000000000000" charset="-122"/>
              </a:rPr>
              <a:t>P A R T . 0 3</a:t>
            </a:r>
            <a:endParaRPr lang="en-US" altLang="zh-CN">
              <a:latin typeface="MiSans Normal" panose="00000500000000000000" charset="-122"/>
              <a:ea typeface="MiSans Normal" panose="00000500000000000000" charset="-122"/>
            </a:endParaRPr>
          </a:p>
        </p:txBody>
      </p:sp>
      <p:sp>
        <p:nvSpPr>
          <p:cNvPr id="26" name="文本框 25"/>
          <p:cNvSpPr txBox="1"/>
          <p:nvPr/>
        </p:nvSpPr>
        <p:spPr>
          <a:xfrm>
            <a:off x="1720850" y="3915410"/>
            <a:ext cx="8750935" cy="368300"/>
          </a:xfrm>
          <a:prstGeom prst="rect">
            <a:avLst/>
          </a:prstGeom>
          <a:noFill/>
        </p:spPr>
        <p:txBody>
          <a:bodyPr wrap="square" rtlCol="0">
            <a:spAutoFit/>
          </a:bodyPr>
          <a:lstStyle/>
          <a:p>
            <a:pPr algn="ctr"/>
            <a:r>
              <a:rPr lang="zh-CN" altLang="en-US" i="1">
                <a:solidFill>
                  <a:schemeClr val="tx2">
                    <a:lumMod val="75000"/>
                    <a:lumOff val="25000"/>
                  </a:schemeClr>
                </a:solidFill>
                <a:latin typeface="MiSans Normal" panose="00000500000000000000" charset="-122"/>
                <a:ea typeface="MiSans Normal" panose="00000500000000000000" charset="-122"/>
              </a:rPr>
              <a:t>Technical route and method</a:t>
            </a:r>
            <a:endParaRPr lang="zh-CN" altLang="en-US" i="1">
              <a:solidFill>
                <a:schemeClr val="tx2">
                  <a:lumMod val="75000"/>
                  <a:lumOff val="25000"/>
                </a:schemeClr>
              </a:solidFill>
              <a:latin typeface="MiSans Normal" panose="00000500000000000000" charset="-122"/>
              <a:ea typeface="MiSans Normal" panose="00000500000000000000" charset="-122"/>
            </a:endParaRPr>
          </a:p>
        </p:txBody>
      </p:sp>
      <p:sp>
        <p:nvSpPr>
          <p:cNvPr id="2" name="文本框 1"/>
          <p:cNvSpPr txBox="1"/>
          <p:nvPr/>
        </p:nvSpPr>
        <p:spPr>
          <a:xfrm>
            <a:off x="4899660" y="1356995"/>
            <a:ext cx="2393950" cy="1106805"/>
          </a:xfrm>
          <a:prstGeom prst="rect">
            <a:avLst/>
          </a:prstGeom>
          <a:noFill/>
        </p:spPr>
        <p:txBody>
          <a:bodyPr wrap="square" rtlCol="0">
            <a:spAutoFit/>
          </a:bodyPr>
          <a:lstStyle/>
          <a:p>
            <a:pPr algn="ctr"/>
            <a:r>
              <a:rPr lang="en-US" altLang="zh-CN" sz="6600">
                <a:solidFill>
                  <a:schemeClr val="tx2">
                    <a:lumMod val="75000"/>
                    <a:lumOff val="25000"/>
                  </a:schemeClr>
                </a:solidFill>
                <a:latin typeface="MiSans Normal" panose="00000500000000000000" charset="-122"/>
                <a:ea typeface="MiSans Normal" panose="00000500000000000000" charset="-122"/>
              </a:rPr>
              <a:t>03</a:t>
            </a:r>
            <a:endParaRPr lang="en-US" altLang="zh-CN" sz="6600">
              <a:solidFill>
                <a:schemeClr val="tx2">
                  <a:lumMod val="75000"/>
                  <a:lumOff val="25000"/>
                </a:schemeClr>
              </a:solidFill>
              <a:latin typeface="MiSans Normal" panose="00000500000000000000" charset="-122"/>
              <a:ea typeface="MiSans Normal" panose="00000500000000000000" charset="-122"/>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7" name="直接连接符 16"/>
          <p:cNvCxnSpPr/>
          <p:nvPr/>
        </p:nvCxnSpPr>
        <p:spPr>
          <a:xfrm>
            <a:off x="439299" y="431906"/>
            <a:ext cx="0" cy="345325"/>
          </a:xfrm>
          <a:prstGeom prst="line">
            <a:avLst/>
          </a:prstGeom>
          <a:ln w="92075">
            <a:solidFill>
              <a:srgbClr val="122E66"/>
            </a:solidFill>
          </a:ln>
        </p:spPr>
        <p:style>
          <a:lnRef idx="1">
            <a:srgbClr val="0E58A3"/>
          </a:lnRef>
          <a:fillRef idx="0">
            <a:srgbClr val="0E58A3"/>
          </a:fillRef>
          <a:effectRef idx="0">
            <a:srgbClr val="0E58A3"/>
          </a:effectRef>
          <a:fontRef idx="minor">
            <a:srgbClr val="000000"/>
          </a:fontRef>
        </p:style>
      </p:cxnSp>
      <p:sp>
        <p:nvSpPr>
          <p:cNvPr id="24" name="文本框 23"/>
          <p:cNvSpPr txBox="1"/>
          <p:nvPr/>
        </p:nvSpPr>
        <p:spPr>
          <a:xfrm>
            <a:off x="525924" y="413052"/>
            <a:ext cx="645449" cy="398780"/>
          </a:xfrm>
          <a:prstGeom prst="rect">
            <a:avLst/>
          </a:prstGeom>
          <a:noFill/>
        </p:spPr>
        <p:txBody>
          <a:bodyPr wrap="square" rtlCol="0">
            <a:spAutoFit/>
          </a:bodyPr>
          <a:lstStyle/>
          <a:p>
            <a:r>
              <a:rPr lang="en-US" altLang="zh-CN" sz="2000" dirty="0">
                <a:latin typeface="OPPOSans B" panose="00020600040101010101" pitchFamily="18" charset="-122"/>
                <a:ea typeface="OPPOSans B" panose="00020600040101010101" pitchFamily="18" charset="-122"/>
                <a:cs typeface="OPPOSans B" panose="00020600040101010101" pitchFamily="18" charset="-122"/>
              </a:rPr>
              <a:t>3.1</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sp>
        <p:nvSpPr>
          <p:cNvPr id="23" name="文本框 22"/>
          <p:cNvSpPr txBox="1"/>
          <p:nvPr/>
        </p:nvSpPr>
        <p:spPr>
          <a:xfrm>
            <a:off x="1024255" y="413385"/>
            <a:ext cx="1812925" cy="398780"/>
          </a:xfrm>
          <a:prstGeom prst="rect">
            <a:avLst/>
          </a:prstGeom>
          <a:noFill/>
        </p:spPr>
        <p:txBody>
          <a:bodyPr wrap="square" rtlCol="0">
            <a:spAutoFit/>
          </a:bodyPr>
          <a:lstStyle/>
          <a:p>
            <a:pPr algn="l">
              <a:lnSpc>
                <a:spcPct val="100000"/>
              </a:lnSpc>
              <a:buClrTx/>
              <a:buSzTx/>
              <a:buFontTx/>
            </a:pPr>
            <a:r>
              <a:rPr lang="en-US" altLang="zh-CN" sz="2000" dirty="0">
                <a:latin typeface="OPPOSans B" panose="00020600040101010101" pitchFamily="18" charset="-122"/>
                <a:ea typeface="OPPOSans B" panose="00020600040101010101" pitchFamily="18" charset="-122"/>
                <a:cs typeface="OPPOSans B" panose="00020600040101010101" pitchFamily="18" charset="-122"/>
              </a:rPr>
              <a:t>overview</a:t>
            </a:r>
            <a:endParaRPr lang="en-US" altLang="zh-CN" sz="2000" dirty="0">
              <a:latin typeface="OPPOSans B" panose="00020600040101010101" pitchFamily="18" charset="-122"/>
              <a:ea typeface="OPPOSans B" panose="00020600040101010101" pitchFamily="18" charset="-122"/>
              <a:cs typeface="OPPOSans B" panose="00020600040101010101" pitchFamily="18" charset="-122"/>
            </a:endParaRPr>
          </a:p>
        </p:txBody>
      </p:sp>
      <p:cxnSp>
        <p:nvCxnSpPr>
          <p:cNvPr id="14" name="直接连接符 13"/>
          <p:cNvCxnSpPr/>
          <p:nvPr/>
        </p:nvCxnSpPr>
        <p:spPr>
          <a:xfrm flipV="1">
            <a:off x="-16631" y="1121789"/>
            <a:ext cx="11936730" cy="12065"/>
          </a:xfrm>
          <a:prstGeom prst="line">
            <a:avLst/>
          </a:prstGeom>
          <a:ln>
            <a:solidFill>
              <a:srgbClr val="FFFFFF">
                <a:lumMod val="85000"/>
              </a:srgbClr>
            </a:solidFill>
          </a:ln>
        </p:spPr>
        <p:style>
          <a:lnRef idx="1">
            <a:srgbClr val="0E58A3"/>
          </a:lnRef>
          <a:fillRef idx="0">
            <a:srgbClr val="0E58A3"/>
          </a:fillRef>
          <a:effectRef idx="0">
            <a:srgbClr val="0E58A3"/>
          </a:effectRef>
          <a:fontRef idx="minor">
            <a:srgbClr val="000000"/>
          </a:fontRef>
        </p:style>
      </p:cxnSp>
      <p:pic>
        <p:nvPicPr>
          <p:cNvPr id="2" name="图片 1" descr="c4aa28ef-bc04-4af1-9a54-5ba36721056c"/>
          <p:cNvPicPr>
            <a:picLocks noChangeAspect="1"/>
          </p:cNvPicPr>
          <p:nvPr/>
        </p:nvPicPr>
        <p:blipFill>
          <a:blip r:embed="rId1"/>
          <a:stretch>
            <a:fillRect/>
          </a:stretch>
        </p:blipFill>
        <p:spPr>
          <a:xfrm>
            <a:off x="1724025" y="1216025"/>
            <a:ext cx="8308975" cy="553974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7" name="直接连接符 16"/>
          <p:cNvCxnSpPr/>
          <p:nvPr/>
        </p:nvCxnSpPr>
        <p:spPr>
          <a:xfrm>
            <a:off x="439299" y="431906"/>
            <a:ext cx="0" cy="345325"/>
          </a:xfrm>
          <a:prstGeom prst="line">
            <a:avLst/>
          </a:prstGeom>
          <a:ln w="92075">
            <a:solidFill>
              <a:srgbClr val="122E66"/>
            </a:solidFill>
          </a:ln>
        </p:spPr>
        <p:style>
          <a:lnRef idx="1">
            <a:srgbClr val="0E58A3"/>
          </a:lnRef>
          <a:fillRef idx="0">
            <a:srgbClr val="0E58A3"/>
          </a:fillRef>
          <a:effectRef idx="0">
            <a:srgbClr val="0E58A3"/>
          </a:effectRef>
          <a:fontRef idx="minor">
            <a:srgbClr val="000000"/>
          </a:fontRef>
        </p:style>
      </p:cxnSp>
      <p:sp>
        <p:nvSpPr>
          <p:cNvPr id="24" name="文本框 23"/>
          <p:cNvSpPr txBox="1"/>
          <p:nvPr/>
        </p:nvSpPr>
        <p:spPr>
          <a:xfrm>
            <a:off x="525924" y="413052"/>
            <a:ext cx="645449" cy="398780"/>
          </a:xfrm>
          <a:prstGeom prst="rect">
            <a:avLst/>
          </a:prstGeom>
          <a:noFill/>
        </p:spPr>
        <p:txBody>
          <a:bodyPr wrap="square" rtlCol="0">
            <a:spAutoFit/>
          </a:bodyPr>
          <a:lstStyle/>
          <a:p>
            <a:r>
              <a:rPr lang="en-US" altLang="zh-CN" sz="2000" dirty="0">
                <a:latin typeface="OPPOSans B" panose="00020600040101010101" pitchFamily="18" charset="-122"/>
                <a:ea typeface="OPPOSans B" panose="00020600040101010101" pitchFamily="18" charset="-122"/>
                <a:cs typeface="OPPOSans B" panose="00020600040101010101" pitchFamily="18" charset="-122"/>
              </a:rPr>
              <a:t>3.2</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sp>
        <p:nvSpPr>
          <p:cNvPr id="23" name="文本框 22"/>
          <p:cNvSpPr txBox="1"/>
          <p:nvPr/>
        </p:nvSpPr>
        <p:spPr>
          <a:xfrm>
            <a:off x="1024255" y="413385"/>
            <a:ext cx="2498725" cy="398780"/>
          </a:xfrm>
          <a:prstGeom prst="rect">
            <a:avLst/>
          </a:prstGeom>
          <a:noFill/>
        </p:spPr>
        <p:txBody>
          <a:bodyPr wrap="square" rtlCol="0">
            <a:spAutoFit/>
          </a:bodyPr>
          <a:lstStyle/>
          <a:p>
            <a:pPr algn="l">
              <a:lnSpc>
                <a:spcPct val="100000"/>
              </a:lnSpc>
              <a:buClrTx/>
              <a:buSzTx/>
              <a:buFontTx/>
            </a:pPr>
            <a:r>
              <a:rPr lang="zh-CN" altLang="en-US" sz="2000" dirty="0">
                <a:latin typeface="OPPOSans B" panose="00020600040101010101" pitchFamily="18" charset="-122"/>
                <a:ea typeface="OPPOSans B" panose="00020600040101010101" pitchFamily="18" charset="-122"/>
                <a:cs typeface="OPPOSans B" panose="00020600040101010101" pitchFamily="18" charset="-122"/>
              </a:rPr>
              <a:t>文本情感识别</a:t>
            </a:r>
            <a:r>
              <a:rPr lang="zh-CN" altLang="en-US" sz="2000" dirty="0">
                <a:latin typeface="OPPOSans B" panose="00020600040101010101" pitchFamily="18" charset="-122"/>
                <a:ea typeface="OPPOSans B" panose="00020600040101010101" pitchFamily="18" charset="-122"/>
                <a:cs typeface="OPPOSans B" panose="00020600040101010101" pitchFamily="18" charset="-122"/>
              </a:rPr>
              <a:t>子模块</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cxnSp>
        <p:nvCxnSpPr>
          <p:cNvPr id="14" name="直接连接符 13"/>
          <p:cNvCxnSpPr/>
          <p:nvPr/>
        </p:nvCxnSpPr>
        <p:spPr>
          <a:xfrm flipV="1">
            <a:off x="-16631" y="1121789"/>
            <a:ext cx="11936730" cy="12065"/>
          </a:xfrm>
          <a:prstGeom prst="line">
            <a:avLst/>
          </a:prstGeom>
          <a:ln>
            <a:solidFill>
              <a:srgbClr val="FFFFFF">
                <a:lumMod val="85000"/>
              </a:srgbClr>
            </a:solidFill>
          </a:ln>
        </p:spPr>
        <p:style>
          <a:lnRef idx="1">
            <a:srgbClr val="0E58A3"/>
          </a:lnRef>
          <a:fillRef idx="0">
            <a:srgbClr val="0E58A3"/>
          </a:fillRef>
          <a:effectRef idx="0">
            <a:srgbClr val="0E58A3"/>
          </a:effectRef>
          <a:fontRef idx="minor">
            <a:srgbClr val="000000"/>
          </a:fontRef>
        </p:style>
      </p:cxnSp>
      <p:grpSp>
        <p:nvGrpSpPr>
          <p:cNvPr id="3" name="组合 2"/>
          <p:cNvGrpSpPr/>
          <p:nvPr>
            <p:custDataLst>
              <p:tags r:id="rId1"/>
            </p:custDataLst>
          </p:nvPr>
        </p:nvGrpSpPr>
        <p:grpSpPr>
          <a:xfrm>
            <a:off x="439420" y="1443990"/>
            <a:ext cx="5085715" cy="4912563"/>
            <a:chOff x="900" y="3405"/>
            <a:chExt cx="8009" cy="6470"/>
          </a:xfrm>
        </p:grpSpPr>
        <p:sp>
          <p:nvSpPr>
            <p:cNvPr id="90" name="Google Shape;90;p13"/>
            <p:cNvSpPr txBox="1"/>
            <p:nvPr/>
          </p:nvSpPr>
          <p:spPr>
            <a:xfrm>
              <a:off x="1080" y="3405"/>
              <a:ext cx="7829" cy="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5088"/>
                  </a:solidFill>
                  <a:latin typeface="DM Sans"/>
                  <a:ea typeface="DM Sans"/>
                  <a:cs typeface="DM Sans"/>
                  <a:sym typeface="DM Sans"/>
                </a:rPr>
                <a:t>核心逻辑实现</a:t>
              </a:r>
              <a:endParaRPr lang="en-US" sz="1800" b="1" i="0" u="none" strike="noStrike" cap="none">
                <a:solidFill>
                  <a:srgbClr val="005088"/>
                </a:solidFill>
                <a:latin typeface="DM Sans"/>
                <a:ea typeface="DM Sans"/>
                <a:cs typeface="DM Sans"/>
                <a:sym typeface="DM Sans"/>
              </a:endParaRPr>
            </a:p>
          </p:txBody>
        </p:sp>
        <p:sp>
          <p:nvSpPr>
            <p:cNvPr id="91" name="Google Shape;91;p13"/>
            <p:cNvSpPr/>
            <p:nvPr/>
          </p:nvSpPr>
          <p:spPr>
            <a:xfrm>
              <a:off x="900" y="3405"/>
              <a:ext cx="75" cy="480"/>
            </a:xfrm>
            <a:prstGeom prst="rect">
              <a:avLst/>
            </a:prstGeom>
            <a:solidFill>
              <a:srgbClr val="00528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2" name="Google Shape;92;p13"/>
            <p:cNvSpPr txBox="1"/>
            <p:nvPr>
              <p:custDataLst>
                <p:tags r:id="rId2"/>
              </p:custDataLst>
            </p:nvPr>
          </p:nvSpPr>
          <p:spPr>
            <a:xfrm>
              <a:off x="1425" y="4125"/>
              <a:ext cx="7111" cy="729"/>
            </a:xfrm>
            <a:prstGeom prst="rect">
              <a:avLst/>
            </a:prstGeom>
            <a:noFill/>
            <a:ln>
              <a:noFill/>
            </a:ln>
          </p:spPr>
          <p:txBody>
            <a:bodyPr spcFirstLastPara="1" wrap="square" lIns="0" tIns="0" rIns="0" bIns="0" anchor="t" anchorCtr="0">
              <a:spAutoFit/>
            </a:bodyPr>
            <a:lstStyle/>
            <a:p>
              <a:pPr marL="0" marR="0" lvl="0" algn="l" rtl="0">
                <a:lnSpc>
                  <a:spcPct val="100000"/>
                </a:lnSpc>
                <a:spcBef>
                  <a:spcPts val="0"/>
                </a:spcBef>
                <a:buClrTx/>
                <a:buSzTx/>
                <a:buFontTx/>
                <a:buNone/>
              </a:pPr>
              <a:r>
                <a:rPr lang="zh-CN" altLang="en-US" sz="1600" b="1" i="0" u="none" strike="noStrike" cap="none" dirty="0">
                  <a:solidFill>
                    <a:srgbClr val="00528E"/>
                  </a:solidFill>
                  <a:latin typeface="OPPOSans B" panose="00020600040101010101" pitchFamily="18" charset="-122"/>
                  <a:ea typeface="OPPOSans B" panose="00020600040101010101" pitchFamily="18" charset="-122"/>
                  <a:cs typeface="OPPOSans B" panose="00020600040101010101" pitchFamily="18" charset="-122"/>
                  <a:sym typeface="DM Sans"/>
                </a:rPr>
                <a:t>基于规则的情感增强引擎</a:t>
              </a:r>
              <a:r>
                <a:rPr lang="en-US" altLang="zh-CN" sz="1600" i="0" u="none" strike="noStrike" cap="none" dirty="0">
                  <a:latin typeface="OPPOSans B" panose="00020600040101010101" pitchFamily="18" charset="-122"/>
                  <a:ea typeface="OPPOSans B" panose="00020600040101010101" pitchFamily="18" charset="-122"/>
                  <a:cs typeface="OPPOSans B" panose="00020600040101010101" pitchFamily="18" charset="-122"/>
                  <a:sym typeface="DM Sans"/>
                </a:rPr>
                <a:t> </a:t>
              </a:r>
              <a:r>
                <a:rPr lang="zh-CN" altLang="en-US" sz="1600" b="0" i="0" u="none" strike="noStrike" cap="none" dirty="0">
                  <a:latin typeface="OPPOSans B" panose="00020600040101010101" pitchFamily="18" charset="-122"/>
                  <a:ea typeface="OPPOSans B" panose="00020600040101010101" pitchFamily="18" charset="-122"/>
                  <a:cs typeface="OPPOSans B" panose="00020600040101010101" pitchFamily="18" charset="-122"/>
                  <a:sym typeface="DM Sans"/>
                </a:rPr>
                <a:t>采用启发式规则替代重型深度模型，实现极低延迟的实时反馈交互</a:t>
              </a:r>
              <a:r>
                <a:rPr lang="zh-CN" altLang="en-US" sz="2000" b="0" i="0" u="none" strike="noStrike" cap="none" dirty="0">
                  <a:latin typeface="OPPOSans B" panose="00020600040101010101" pitchFamily="18" charset="-122"/>
                  <a:ea typeface="OPPOSans B" panose="00020600040101010101" pitchFamily="18" charset="-122"/>
                  <a:cs typeface="OPPOSans B" panose="00020600040101010101" pitchFamily="18" charset="-122"/>
                  <a:sym typeface="DM Sans"/>
                </a:rPr>
                <a:t>。</a:t>
              </a:r>
              <a:endParaRPr lang="zh-CN" altLang="en-US" sz="2000" b="0" i="0" u="none" strike="noStrike" cap="none" dirty="0">
                <a:latin typeface="OPPOSans B" panose="00020600040101010101" pitchFamily="18" charset="-122"/>
                <a:ea typeface="OPPOSans B" panose="00020600040101010101" pitchFamily="18" charset="-122"/>
                <a:cs typeface="OPPOSans B" panose="00020600040101010101" pitchFamily="18" charset="-122"/>
                <a:sym typeface="DM Sans"/>
              </a:endParaRPr>
            </a:p>
          </p:txBody>
        </p:sp>
        <p:sp>
          <p:nvSpPr>
            <p:cNvPr id="93" name="Google Shape;93;p13"/>
            <p:cNvSpPr txBox="1"/>
            <p:nvPr>
              <p:custDataLst>
                <p:tags r:id="rId3"/>
              </p:custDataLst>
            </p:nvPr>
          </p:nvSpPr>
          <p:spPr>
            <a:xfrm>
              <a:off x="1350" y="5240"/>
              <a:ext cx="7186" cy="136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zh-CN" altLang="en-US" sz="1600" b="1" i="0" u="none" strike="noStrike" cap="none" dirty="0">
                  <a:solidFill>
                    <a:srgbClr val="00528E"/>
                  </a:solidFill>
                  <a:latin typeface="OPPOSans B" panose="00020600040101010101" pitchFamily="18" charset="-122"/>
                  <a:ea typeface="OPPOSans B" panose="00020600040101010101" pitchFamily="18" charset="-122"/>
                  <a:cs typeface="OPPOSans B" panose="00020600040101010101" pitchFamily="18" charset="-122"/>
                  <a:sym typeface="DM Sans"/>
                </a:rPr>
                <a:t>8类离散情绪字典 </a:t>
              </a:r>
              <a:r>
                <a:rPr lang="zh-CN" altLang="en-US" sz="1600" i="0" u="none" strike="noStrike" cap="none" dirty="0">
                  <a:solidFill>
                    <a:schemeClr val="tx1"/>
                  </a:solidFill>
                  <a:latin typeface="OPPOSans B" panose="00020600040101010101" pitchFamily="18" charset="-122"/>
                  <a:ea typeface="OPPOSans B" panose="00020600040101010101" pitchFamily="18" charset="-122"/>
                  <a:cs typeface="OPPOSans B" panose="00020600040101010101" pitchFamily="18" charset="-122"/>
                  <a:sym typeface="DM Sans"/>
                </a:rPr>
                <a:t>涵盖 </a:t>
              </a:r>
              <a:r>
                <a:rPr lang="zh-CN" altLang="en-US" sz="1600" b="1" i="0" u="none" strike="noStrike" cap="none" dirty="0">
                  <a:solidFill>
                    <a:schemeClr val="tx1"/>
                  </a:solidFill>
                  <a:latin typeface="OPPOSans B" panose="00020600040101010101" pitchFamily="18" charset="-122"/>
                  <a:ea typeface="OPPOSans B" panose="00020600040101010101" pitchFamily="18" charset="-122"/>
                  <a:cs typeface="OPPOSans B" panose="00020600040101010101" pitchFamily="18" charset="-122"/>
                  <a:sym typeface="DM Sans"/>
                </a:rPr>
                <a:t>[开心, 悲伤, 愤怒, 焦虑, 恐惧, 平静, 厌恶, 惊讶]</a:t>
              </a:r>
              <a:r>
                <a:rPr lang="zh-CN" altLang="en-US" sz="1600" i="0" u="none" strike="noStrike" cap="none" dirty="0">
                  <a:solidFill>
                    <a:schemeClr val="tx1"/>
                  </a:solidFill>
                  <a:latin typeface="OPPOSans B" panose="00020600040101010101" pitchFamily="18" charset="-122"/>
                  <a:ea typeface="OPPOSans B" panose="00020600040101010101" pitchFamily="18" charset="-122"/>
                  <a:cs typeface="OPPOSans B" panose="00020600040101010101" pitchFamily="18" charset="-122"/>
                  <a:sym typeface="DM Sans"/>
                </a:rPr>
                <a:t>，基于高频情感关键词库进行匹配加权。</a:t>
              </a:r>
              <a:endParaRPr lang="zh-CN" altLang="en-US" sz="1600" i="0" u="none" strike="noStrike" cap="none" dirty="0">
                <a:solidFill>
                  <a:schemeClr val="tx1"/>
                </a:solidFill>
                <a:latin typeface="OPPOSans B" panose="00020600040101010101" pitchFamily="18" charset="-122"/>
                <a:ea typeface="OPPOSans B" panose="00020600040101010101" pitchFamily="18" charset="-122"/>
                <a:cs typeface="OPPOSans B" panose="00020600040101010101" pitchFamily="18" charset="-122"/>
                <a:sym typeface="DM Sans"/>
              </a:endParaRPr>
            </a:p>
          </p:txBody>
        </p:sp>
        <p:sp>
          <p:nvSpPr>
            <p:cNvPr id="94" name="Google Shape;94;p13"/>
            <p:cNvSpPr txBox="1"/>
            <p:nvPr>
              <p:custDataLst>
                <p:tags r:id="rId4"/>
              </p:custDataLst>
            </p:nvPr>
          </p:nvSpPr>
          <p:spPr>
            <a:xfrm>
              <a:off x="1380" y="7052"/>
              <a:ext cx="7156" cy="1360"/>
            </a:xfrm>
            <a:prstGeom prst="rect">
              <a:avLst/>
            </a:prstGeom>
            <a:noFill/>
            <a:ln>
              <a:noFill/>
            </a:ln>
          </p:spPr>
          <p:txBody>
            <a:bodyPr spcFirstLastPara="1" wrap="square" lIns="0" tIns="0" rIns="0" bIns="0" anchor="t" anchorCtr="0">
              <a:spAutoFit/>
            </a:bodyPr>
            <a:lstStyle/>
            <a:p>
              <a:pPr marL="0" marR="0" lvl="0" algn="l" rtl="0">
                <a:lnSpc>
                  <a:spcPct val="140000"/>
                </a:lnSpc>
                <a:spcBef>
                  <a:spcPts val="0"/>
                </a:spcBef>
                <a:spcAft>
                  <a:spcPts val="0"/>
                </a:spcAft>
                <a:buClrTx/>
                <a:buSzTx/>
                <a:buFontTx/>
                <a:buNone/>
              </a:pPr>
              <a:r>
                <a:rPr lang="zh-CN" altLang="en-US" sz="1600" b="1" i="0" u="none" strike="noStrike" cap="none" dirty="0">
                  <a:solidFill>
                    <a:srgbClr val="00528E"/>
                  </a:solidFill>
                  <a:latin typeface="OPPOSans B" panose="00020600040101010101" pitchFamily="18" charset="-122"/>
                  <a:ea typeface="OPPOSans B" panose="00020600040101010101" pitchFamily="18" charset="-122"/>
                  <a:cs typeface="OPPOSans B" panose="00020600040101010101" pitchFamily="18" charset="-122"/>
                  <a:sym typeface="DM Sans"/>
                </a:rPr>
                <a:t>多维语义特征修正 </a:t>
              </a:r>
              <a:r>
                <a:rPr lang="zh-CN" altLang="en-US" sz="1600" i="0" u="none" strike="noStrike" cap="none" dirty="0">
                  <a:solidFill>
                    <a:schemeClr val="tx1"/>
                  </a:solidFill>
                  <a:latin typeface="OPPOSans B" panose="00020600040101010101" pitchFamily="18" charset="-122"/>
                  <a:ea typeface="OPPOSans B" panose="00020600040101010101" pitchFamily="18" charset="-122"/>
                  <a:cs typeface="OPPOSans B" panose="00020600040101010101" pitchFamily="18" charset="-122"/>
                  <a:sym typeface="DM Sans"/>
                </a:rPr>
                <a:t>集成否定词侦测（情绪逆转）、程度副词加权（强度调整）及标点符号（如“!”）的情绪增益算法。</a:t>
              </a:r>
              <a:endParaRPr lang="zh-CN" altLang="en-US" sz="1600" i="0" u="none" strike="noStrike" cap="none" dirty="0">
                <a:solidFill>
                  <a:schemeClr val="tx1"/>
                </a:solidFill>
                <a:latin typeface="OPPOSans B" panose="00020600040101010101" pitchFamily="18" charset="-122"/>
                <a:ea typeface="OPPOSans B" panose="00020600040101010101" pitchFamily="18" charset="-122"/>
                <a:cs typeface="OPPOSans B" panose="00020600040101010101" pitchFamily="18" charset="-122"/>
                <a:sym typeface="DM Sans"/>
              </a:endParaRPr>
            </a:p>
          </p:txBody>
        </p:sp>
        <p:sp>
          <p:nvSpPr>
            <p:cNvPr id="95" name="Google Shape;95;p13"/>
            <p:cNvSpPr txBox="1"/>
            <p:nvPr>
              <p:custDataLst>
                <p:tags r:id="rId5"/>
              </p:custDataLst>
            </p:nvPr>
          </p:nvSpPr>
          <p:spPr>
            <a:xfrm>
              <a:off x="1350" y="8515"/>
              <a:ext cx="7186" cy="1360"/>
            </a:xfrm>
            <a:prstGeom prst="rect">
              <a:avLst/>
            </a:prstGeom>
            <a:noFill/>
            <a:ln>
              <a:noFill/>
            </a:ln>
          </p:spPr>
          <p:txBody>
            <a:bodyPr spcFirstLastPara="1" wrap="square" lIns="0" tIns="0" rIns="0" bIns="0" anchor="t" anchorCtr="0">
              <a:spAutoFit/>
            </a:bodyPr>
            <a:lstStyle/>
            <a:p>
              <a:pPr marL="0" marR="0" lvl="0" algn="l" rtl="0">
                <a:lnSpc>
                  <a:spcPct val="140000"/>
                </a:lnSpc>
                <a:spcBef>
                  <a:spcPts val="0"/>
                </a:spcBef>
                <a:spcAft>
                  <a:spcPts val="0"/>
                </a:spcAft>
                <a:buClrTx/>
                <a:buSzTx/>
                <a:buFontTx/>
                <a:buNone/>
              </a:pPr>
              <a:r>
                <a:rPr lang="zh-CN" altLang="en-US" sz="1600" b="1" i="0" u="none" strike="noStrike" cap="none" dirty="0">
                  <a:solidFill>
                    <a:srgbClr val="00528E"/>
                  </a:solidFill>
                  <a:latin typeface="OPPOSans B" panose="00020600040101010101" pitchFamily="18" charset="-122"/>
                  <a:ea typeface="OPPOSans B" panose="00020600040101010101" pitchFamily="18" charset="-122"/>
                  <a:cs typeface="OPPOSans B" panose="00020600040101010101" pitchFamily="18" charset="-122"/>
                  <a:sym typeface="DM Sans"/>
                </a:rPr>
                <a:t>V-A-D 情感空间映射</a:t>
              </a:r>
              <a:r>
                <a:rPr lang="zh-CN" altLang="en-US" sz="1600" b="0" i="0" u="none" strike="noStrike" cap="none" dirty="0">
                  <a:latin typeface="OPPOSans B" panose="00020600040101010101" pitchFamily="18" charset="-122"/>
                  <a:ea typeface="OPPOSans B" panose="00020600040101010101" pitchFamily="18" charset="-122"/>
                  <a:cs typeface="OPPOSans B" panose="00020600040101010101" pitchFamily="18" charset="-122"/>
                  <a:sym typeface="DM Sans"/>
                </a:rPr>
                <a:t> 将分类结果映射为</a:t>
              </a:r>
              <a:r>
                <a:rPr lang="zh-CN" altLang="en-US" sz="1600" b="1" i="0" u="none" strike="noStrike" cap="none" dirty="0">
                  <a:latin typeface="OPPOSans B" panose="00020600040101010101" pitchFamily="18" charset="-122"/>
                  <a:ea typeface="OPPOSans B" panose="00020600040101010101" pitchFamily="18" charset="-122"/>
                  <a:cs typeface="OPPOSans B" panose="00020600040101010101" pitchFamily="18" charset="-122"/>
                  <a:sym typeface="DM Sans"/>
                </a:rPr>
                <a:t>三维连续向量（愉悦度、激活度、优势度）</a:t>
              </a:r>
              <a:r>
                <a:rPr lang="zh-CN" altLang="en-US" sz="1600" b="0" i="0" u="none" strike="noStrike" cap="none" dirty="0">
                  <a:latin typeface="OPPOSans B" panose="00020600040101010101" pitchFamily="18" charset="-122"/>
                  <a:ea typeface="OPPOSans B" panose="00020600040101010101" pitchFamily="18" charset="-122"/>
                  <a:cs typeface="OPPOSans B" panose="00020600040101010101" pitchFamily="18" charset="-122"/>
                  <a:sym typeface="DM Sans"/>
                </a:rPr>
                <a:t>，支持数字人表情的精细化驱动。</a:t>
              </a:r>
              <a:endParaRPr lang="zh-CN" altLang="en-US" sz="1600" b="0" i="0" u="none" strike="noStrike" cap="none" dirty="0">
                <a:latin typeface="OPPOSans B" panose="00020600040101010101" pitchFamily="18" charset="-122"/>
                <a:ea typeface="OPPOSans B" panose="00020600040101010101" pitchFamily="18" charset="-122"/>
                <a:cs typeface="OPPOSans B" panose="00020600040101010101" pitchFamily="18" charset="-122"/>
                <a:sym typeface="DM Sans"/>
              </a:endParaRPr>
            </a:p>
          </p:txBody>
        </p:sp>
        <p:pic>
          <p:nvPicPr>
            <p:cNvPr id="96" name="Google Shape;96;p13" descr="image.png"/>
            <p:cNvPicPr preferRelativeResize="0"/>
            <p:nvPr>
              <p:custDataLst>
                <p:tags r:id="rId6"/>
              </p:custDataLst>
            </p:nvPr>
          </p:nvPicPr>
          <p:blipFill rotWithShape="1">
            <a:blip r:embed="rId7">
              <a:duotone>
                <a:prstClr val="black"/>
                <a:srgbClr val="00528E">
                  <a:tint val="45000"/>
                  <a:satMod val="400000"/>
                </a:srgbClr>
              </a:duotone>
            </a:blip>
            <a:srcRect/>
            <a:stretch>
              <a:fillRect/>
            </a:stretch>
          </p:blipFill>
          <p:spPr>
            <a:xfrm>
              <a:off x="900" y="4177"/>
              <a:ext cx="345" cy="285"/>
            </a:xfrm>
            <a:prstGeom prst="rect">
              <a:avLst/>
            </a:prstGeom>
            <a:noFill/>
            <a:ln>
              <a:noFill/>
            </a:ln>
          </p:spPr>
        </p:pic>
        <p:pic>
          <p:nvPicPr>
            <p:cNvPr id="97" name="Google Shape;97;p13" descr="image.png"/>
            <p:cNvPicPr preferRelativeResize="0"/>
            <p:nvPr>
              <p:custDataLst>
                <p:tags r:id="rId8"/>
              </p:custDataLst>
            </p:nvPr>
          </p:nvPicPr>
          <p:blipFill rotWithShape="1">
            <a:blip r:embed="rId9">
              <a:duotone>
                <a:prstClr val="black"/>
                <a:srgbClr val="00528E">
                  <a:tint val="45000"/>
                  <a:satMod val="400000"/>
                </a:srgbClr>
              </a:duotone>
            </a:blip>
            <a:srcRect/>
            <a:stretch>
              <a:fillRect/>
            </a:stretch>
          </p:blipFill>
          <p:spPr>
            <a:xfrm>
              <a:off x="975" y="5356"/>
              <a:ext cx="270" cy="285"/>
            </a:xfrm>
            <a:prstGeom prst="rect">
              <a:avLst/>
            </a:prstGeom>
            <a:noFill/>
            <a:ln>
              <a:noFill/>
            </a:ln>
          </p:spPr>
        </p:pic>
        <p:pic>
          <p:nvPicPr>
            <p:cNvPr id="98" name="Google Shape;98;p13" descr="image.png"/>
            <p:cNvPicPr preferRelativeResize="0"/>
            <p:nvPr>
              <p:custDataLst>
                <p:tags r:id="rId10"/>
              </p:custDataLst>
            </p:nvPr>
          </p:nvPicPr>
          <p:blipFill rotWithShape="1">
            <a:blip r:embed="rId11">
              <a:duotone>
                <a:prstClr val="black"/>
                <a:srgbClr val="00528E">
                  <a:tint val="45000"/>
                  <a:satMod val="400000"/>
                </a:srgbClr>
              </a:duotone>
            </a:blip>
            <a:srcRect/>
            <a:stretch>
              <a:fillRect/>
            </a:stretch>
          </p:blipFill>
          <p:spPr>
            <a:xfrm>
              <a:off x="900" y="7104"/>
              <a:ext cx="300" cy="285"/>
            </a:xfrm>
            <a:prstGeom prst="rect">
              <a:avLst/>
            </a:prstGeom>
            <a:noFill/>
            <a:ln>
              <a:noFill/>
            </a:ln>
          </p:spPr>
        </p:pic>
        <p:pic>
          <p:nvPicPr>
            <p:cNvPr id="99" name="Google Shape;99;p13" descr="image.png"/>
            <p:cNvPicPr preferRelativeResize="0"/>
            <p:nvPr>
              <p:custDataLst>
                <p:tags r:id="rId12"/>
              </p:custDataLst>
            </p:nvPr>
          </p:nvPicPr>
          <p:blipFill rotWithShape="1">
            <a:blip r:embed="rId13">
              <a:duotone>
                <a:prstClr val="black"/>
                <a:srgbClr val="00528E">
                  <a:tint val="45000"/>
                  <a:satMod val="400000"/>
                </a:srgbClr>
              </a:duotone>
            </a:blip>
            <a:srcRect/>
            <a:stretch>
              <a:fillRect/>
            </a:stretch>
          </p:blipFill>
          <p:spPr>
            <a:xfrm>
              <a:off x="900" y="8568"/>
              <a:ext cx="270" cy="285"/>
            </a:xfrm>
            <a:prstGeom prst="rect">
              <a:avLst/>
            </a:prstGeom>
            <a:noFill/>
            <a:ln>
              <a:noFill/>
            </a:ln>
          </p:spPr>
        </p:pic>
      </p:grpSp>
      <p:pic>
        <p:nvPicPr>
          <p:cNvPr id="4" name="图片 3" descr="ChatGPT Image 2026年5月16日 11_58_38"/>
          <p:cNvPicPr>
            <a:picLocks noChangeAspect="1"/>
          </p:cNvPicPr>
          <p:nvPr/>
        </p:nvPicPr>
        <p:blipFill>
          <a:blip r:embed="rId14"/>
          <a:stretch>
            <a:fillRect/>
          </a:stretch>
        </p:blipFill>
        <p:spPr>
          <a:xfrm>
            <a:off x="5354955" y="2085340"/>
            <a:ext cx="6652260" cy="377126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7" name="直接连接符 16"/>
          <p:cNvCxnSpPr/>
          <p:nvPr/>
        </p:nvCxnSpPr>
        <p:spPr>
          <a:xfrm>
            <a:off x="439299" y="431906"/>
            <a:ext cx="0" cy="345325"/>
          </a:xfrm>
          <a:prstGeom prst="line">
            <a:avLst/>
          </a:prstGeom>
          <a:ln w="92075">
            <a:solidFill>
              <a:srgbClr val="122E66"/>
            </a:solidFill>
          </a:ln>
        </p:spPr>
        <p:style>
          <a:lnRef idx="1">
            <a:srgbClr val="0E58A3"/>
          </a:lnRef>
          <a:fillRef idx="0">
            <a:srgbClr val="0E58A3"/>
          </a:fillRef>
          <a:effectRef idx="0">
            <a:srgbClr val="0E58A3"/>
          </a:effectRef>
          <a:fontRef idx="minor">
            <a:srgbClr val="000000"/>
          </a:fontRef>
        </p:style>
      </p:cxnSp>
      <p:sp>
        <p:nvSpPr>
          <p:cNvPr id="24" name="文本框 23"/>
          <p:cNvSpPr txBox="1"/>
          <p:nvPr/>
        </p:nvSpPr>
        <p:spPr>
          <a:xfrm>
            <a:off x="525924" y="413052"/>
            <a:ext cx="645449" cy="398780"/>
          </a:xfrm>
          <a:prstGeom prst="rect">
            <a:avLst/>
          </a:prstGeom>
          <a:noFill/>
        </p:spPr>
        <p:txBody>
          <a:bodyPr wrap="square" rtlCol="0">
            <a:spAutoFit/>
          </a:bodyPr>
          <a:lstStyle/>
          <a:p>
            <a:r>
              <a:rPr lang="en-US" altLang="zh-CN" sz="2000" dirty="0">
                <a:latin typeface="OPPOSans B" panose="00020600040101010101" pitchFamily="18" charset="-122"/>
                <a:ea typeface="OPPOSans B" panose="00020600040101010101" pitchFamily="18" charset="-122"/>
                <a:cs typeface="OPPOSans B" panose="00020600040101010101" pitchFamily="18" charset="-122"/>
              </a:rPr>
              <a:t>3.3</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sp>
        <p:nvSpPr>
          <p:cNvPr id="23" name="文本框 22"/>
          <p:cNvSpPr txBox="1"/>
          <p:nvPr/>
        </p:nvSpPr>
        <p:spPr>
          <a:xfrm>
            <a:off x="1024255" y="413385"/>
            <a:ext cx="2498725" cy="398780"/>
          </a:xfrm>
          <a:prstGeom prst="rect">
            <a:avLst/>
          </a:prstGeom>
          <a:noFill/>
        </p:spPr>
        <p:txBody>
          <a:bodyPr wrap="square" rtlCol="0">
            <a:spAutoFit/>
          </a:bodyPr>
          <a:lstStyle/>
          <a:p>
            <a:pPr algn="l">
              <a:lnSpc>
                <a:spcPct val="100000"/>
              </a:lnSpc>
              <a:buClrTx/>
              <a:buSzTx/>
              <a:buFontTx/>
            </a:pPr>
            <a:r>
              <a:rPr lang="zh-CN" altLang="en-US" sz="2000" dirty="0">
                <a:latin typeface="OPPOSans B" panose="00020600040101010101" pitchFamily="18" charset="-122"/>
                <a:ea typeface="OPPOSans B" panose="00020600040101010101" pitchFamily="18" charset="-122"/>
                <a:cs typeface="OPPOSans B" panose="00020600040101010101" pitchFamily="18" charset="-122"/>
              </a:rPr>
              <a:t>语音情感识别</a:t>
            </a:r>
            <a:r>
              <a:rPr lang="zh-CN" altLang="en-US" sz="2000" dirty="0">
                <a:latin typeface="OPPOSans B" panose="00020600040101010101" pitchFamily="18" charset="-122"/>
                <a:ea typeface="OPPOSans B" panose="00020600040101010101" pitchFamily="18" charset="-122"/>
                <a:cs typeface="OPPOSans B" panose="00020600040101010101" pitchFamily="18" charset="-122"/>
              </a:rPr>
              <a:t>子模块</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cxnSp>
        <p:nvCxnSpPr>
          <p:cNvPr id="14" name="直接连接符 13"/>
          <p:cNvCxnSpPr/>
          <p:nvPr/>
        </p:nvCxnSpPr>
        <p:spPr>
          <a:xfrm flipV="1">
            <a:off x="-16631" y="1121789"/>
            <a:ext cx="11936730" cy="12065"/>
          </a:xfrm>
          <a:prstGeom prst="line">
            <a:avLst/>
          </a:prstGeom>
          <a:ln>
            <a:solidFill>
              <a:srgbClr val="FFFFFF">
                <a:lumMod val="85000"/>
              </a:srgbClr>
            </a:solidFill>
          </a:ln>
        </p:spPr>
        <p:style>
          <a:lnRef idx="1">
            <a:srgbClr val="0E58A3"/>
          </a:lnRef>
          <a:fillRef idx="0">
            <a:srgbClr val="0E58A3"/>
          </a:fillRef>
          <a:effectRef idx="0">
            <a:srgbClr val="0E58A3"/>
          </a:effectRef>
          <a:fontRef idx="minor">
            <a:srgbClr val="000000"/>
          </a:fontRef>
        </p:style>
      </p:cxnSp>
      <p:sp>
        <p:nvSpPr>
          <p:cNvPr id="3" name="文本占位符 2"/>
          <p:cNvSpPr>
            <a:spLocks noGrp="1"/>
          </p:cNvSpPr>
          <p:nvPr>
            <p:custDataLst>
              <p:tags r:id="rId1"/>
            </p:custDataLst>
          </p:nvPr>
        </p:nvSpPr>
        <p:spPr>
          <a:xfrm>
            <a:off x="609600" y="1524000"/>
            <a:ext cx="2514600" cy="406400"/>
          </a:xfrm>
          <a:noFill/>
        </p:spPr>
        <p:txBody>
          <a:bodyPr lIns="0" tIns="0" rIns="0" bIns="0" anchor="t">
            <a:normAutofit/>
          </a:bodyPr>
          <a:lstStyle>
            <a:lvl1pPr marL="0" indent="0" algn="ctr"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11000"/>
              </a:lnSpc>
            </a:pPr>
            <a:r>
              <a:rPr lang="zh-CN" altLang="en-US"/>
              <a:t>人工标注局限性</a:t>
            </a:r>
            <a:endParaRPr lang="zh-CN" altLang="en-US"/>
          </a:p>
        </p:txBody>
      </p:sp>
      <p:sp>
        <p:nvSpPr>
          <p:cNvPr id="4" name="装饰  7"/>
          <p:cNvSpPr>
            <a:spLocks noGrp="1"/>
          </p:cNvSpPr>
          <p:nvPr>
            <p:custDataLst>
              <p:tags r:id="rId2"/>
            </p:custDataLst>
          </p:nvPr>
        </p:nvSpPr>
        <p:spPr>
          <a:xfrm>
            <a:off x="609600" y="2082800"/>
            <a:ext cx="2514600" cy="4165600"/>
          </a:xfrm>
          <a:custGeom>
            <a:avLst/>
            <a:gdLst>
              <a:gd name="connisteX0" fmla="*/ 0 w 2514600"/>
              <a:gd name="connsiteY0" fmla="*/ 203200 h 4165600"/>
              <a:gd name="connisteX1" fmla="*/ 203200 w 2514600"/>
              <a:gd name="connsiteY1" fmla="*/ 0 h 4165600"/>
              <a:gd name="connisteX2" fmla="*/ 2311400 w 2514600"/>
              <a:gd name="connsiteY2" fmla="*/ 0 h 4165600"/>
              <a:gd name="connisteX3" fmla="*/ 2514600 w 2514600"/>
              <a:gd name="connsiteY3" fmla="*/ 203200 h 4165600"/>
              <a:gd name="connisteX4" fmla="*/ 2514600 w 2514600"/>
              <a:gd name="connsiteY4" fmla="*/ 3962400 h 4165600"/>
              <a:gd name="connisteX5" fmla="*/ 2311400 w 2514600"/>
              <a:gd name="connsiteY5" fmla="*/ 4165600 h 4165600"/>
              <a:gd name="connisteX6" fmla="*/ 203200 w 2514600"/>
              <a:gd name="connsiteY6" fmla="*/ 4165600 h 4165600"/>
              <a:gd name="connisteX7" fmla="*/ 0 w 2514600"/>
              <a:gd name="connsiteY7" fmla="*/ 3962400 h 4165600"/>
              <a:gd name="connisteX8" fmla="*/ 0 w 25146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165600">
                <a:moveTo>
                  <a:pt x="0" y="203200"/>
                </a:moveTo>
                <a:cubicBezTo>
                  <a:pt x="0" y="90976"/>
                  <a:pt x="90976" y="0"/>
                  <a:pt x="203200" y="0"/>
                </a:cubicBezTo>
                <a:lnTo>
                  <a:pt x="2311400" y="0"/>
                </a:lnTo>
                <a:cubicBezTo>
                  <a:pt x="2423624" y="0"/>
                  <a:pt x="2514600" y="90976"/>
                  <a:pt x="2514600" y="203200"/>
                </a:cubicBezTo>
                <a:lnTo>
                  <a:pt x="2514600" y="3962400"/>
                </a:lnTo>
                <a:cubicBezTo>
                  <a:pt x="2514600" y="4074624"/>
                  <a:pt x="2423624" y="4165600"/>
                  <a:pt x="23114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endParaRPr lang="zh-CN" altLang="en-US"/>
          </a:p>
        </p:txBody>
      </p:sp>
      <p:sp>
        <p:nvSpPr>
          <p:cNvPr id="5" name="文本占位符 4"/>
          <p:cNvSpPr>
            <a:spLocks noGrp="1"/>
          </p:cNvSpPr>
          <p:nvPr>
            <p:custDataLst>
              <p:tags r:id="rId3"/>
            </p:custDataLst>
          </p:nvPr>
        </p:nvSpPr>
        <p:spPr>
          <a:xfrm>
            <a:off x="914400" y="2641600"/>
            <a:ext cx="1905000" cy="3048000"/>
          </a:xfrm>
          <a:noFill/>
        </p:spPr>
        <p:txBody>
          <a:bodyPr lIns="0" tIns="0" rIns="0" bIns="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5000"/>
              </a:lnSpc>
            </a:pPr>
            <a:r>
              <a:rPr lang="zh-CN" altLang="en-US"/>
              <a:t>人工标注音频情感特征（</a:t>
            </a:r>
            <a:r>
              <a:rPr lang="zh-CN" altLang="en-US" b="1"/>
              <a:t>语速，唤醒度，能量</a:t>
            </a:r>
            <a:r>
              <a:rPr lang="zh-CN" altLang="en-US"/>
              <a:t>等</a:t>
            </a:r>
            <a:r>
              <a:rPr lang="zh-CN" altLang="en-US"/>
              <a:t>参数）不准确，多次调整参数后仍无法分辨愤怒与惊讶参数，抽样测试准确率在10%到30%左右浮动，且总有情感识别准确率小于等于10%</a:t>
            </a:r>
            <a:endParaRPr lang="zh-CN" altLang="en-US"/>
          </a:p>
        </p:txBody>
      </p:sp>
      <p:sp>
        <p:nvSpPr>
          <p:cNvPr id="6" name="文本占位符 5"/>
          <p:cNvSpPr>
            <a:spLocks noGrp="1"/>
          </p:cNvSpPr>
          <p:nvPr>
            <p:custDataLst>
              <p:tags r:id="rId4"/>
            </p:custDataLst>
          </p:nvPr>
        </p:nvSpPr>
        <p:spPr>
          <a:xfrm>
            <a:off x="3429000" y="1524000"/>
            <a:ext cx="2514600" cy="406400"/>
          </a:xfrm>
          <a:noFill/>
        </p:spPr>
        <p:txBody>
          <a:bodyPr lIns="0" tIns="0" rIns="0" bIns="0" anchor="t">
            <a:normAutofit/>
          </a:bodyPr>
          <a:lstStyle>
            <a:lvl1pPr marL="0" indent="0" algn="ctr"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11000"/>
              </a:lnSpc>
            </a:pPr>
            <a:r>
              <a:rPr lang="zh-CN" altLang="en-US"/>
              <a:t>深度学习模型方案</a:t>
            </a:r>
            <a:endParaRPr lang="zh-CN" altLang="en-US"/>
          </a:p>
        </p:txBody>
      </p:sp>
      <p:sp>
        <p:nvSpPr>
          <p:cNvPr id="7" name="装饰  0"/>
          <p:cNvSpPr>
            <a:spLocks noGrp="1"/>
          </p:cNvSpPr>
          <p:nvPr>
            <p:custDataLst>
              <p:tags r:id="rId5"/>
            </p:custDataLst>
          </p:nvPr>
        </p:nvSpPr>
        <p:spPr>
          <a:xfrm>
            <a:off x="3429000" y="2082800"/>
            <a:ext cx="2514600" cy="4165600"/>
          </a:xfrm>
          <a:custGeom>
            <a:avLst/>
            <a:gdLst>
              <a:gd name="connisteX0" fmla="*/ 0 w 2514600"/>
              <a:gd name="connsiteY0" fmla="*/ 203200 h 4165600"/>
              <a:gd name="connisteX1" fmla="*/ 203200 w 2514600"/>
              <a:gd name="connsiteY1" fmla="*/ 0 h 4165600"/>
              <a:gd name="connisteX2" fmla="*/ 2311400 w 2514600"/>
              <a:gd name="connsiteY2" fmla="*/ 0 h 4165600"/>
              <a:gd name="connisteX3" fmla="*/ 2514600 w 2514600"/>
              <a:gd name="connsiteY3" fmla="*/ 203200 h 4165600"/>
              <a:gd name="connisteX4" fmla="*/ 2514600 w 2514600"/>
              <a:gd name="connsiteY4" fmla="*/ 3962400 h 4165600"/>
              <a:gd name="connisteX5" fmla="*/ 2311400 w 2514600"/>
              <a:gd name="connsiteY5" fmla="*/ 4165600 h 4165600"/>
              <a:gd name="connisteX6" fmla="*/ 203200 w 2514600"/>
              <a:gd name="connsiteY6" fmla="*/ 4165600 h 4165600"/>
              <a:gd name="connisteX7" fmla="*/ 0 w 2514600"/>
              <a:gd name="connsiteY7" fmla="*/ 3962400 h 4165600"/>
              <a:gd name="connisteX8" fmla="*/ 0 w 25146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165600">
                <a:moveTo>
                  <a:pt x="0" y="203200"/>
                </a:moveTo>
                <a:cubicBezTo>
                  <a:pt x="0" y="90976"/>
                  <a:pt x="90976" y="0"/>
                  <a:pt x="203200" y="0"/>
                </a:cubicBezTo>
                <a:lnTo>
                  <a:pt x="2311400" y="0"/>
                </a:lnTo>
                <a:cubicBezTo>
                  <a:pt x="2423624" y="0"/>
                  <a:pt x="2514600" y="90976"/>
                  <a:pt x="2514600" y="203200"/>
                </a:cubicBezTo>
                <a:lnTo>
                  <a:pt x="2514600" y="3962400"/>
                </a:lnTo>
                <a:cubicBezTo>
                  <a:pt x="2514600" y="4074624"/>
                  <a:pt x="2423624" y="4165600"/>
                  <a:pt x="23114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endParaRPr lang="zh-CN" altLang="en-US"/>
          </a:p>
        </p:txBody>
      </p:sp>
      <p:sp>
        <p:nvSpPr>
          <p:cNvPr id="8" name="文本占位符 7"/>
          <p:cNvSpPr>
            <a:spLocks noGrp="1"/>
          </p:cNvSpPr>
          <p:nvPr>
            <p:custDataLst>
              <p:tags r:id="rId6"/>
            </p:custDataLst>
          </p:nvPr>
        </p:nvSpPr>
        <p:spPr>
          <a:xfrm>
            <a:off x="3733800" y="2641600"/>
            <a:ext cx="1905000" cy="3048000"/>
          </a:xfrm>
          <a:noFill/>
        </p:spPr>
        <p:txBody>
          <a:bodyPr lIns="0" tIns="0" rIns="0" bIns="0" anchor="t">
            <a:normAutofit lnSpcReduction="10000"/>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5000"/>
              </a:lnSpc>
            </a:pPr>
            <a:r>
              <a:rPr lang="zh-CN" altLang="en-US"/>
              <a:t>采用基于Keras实现的开源语音情感识别工具包（项目来源https://github.com/Renovamen/Speech-Emotion-Recognition），集成了LSTM、CNN、SVM、MLP等多种模型微调训练数据集</a:t>
            </a:r>
            <a:endParaRPr lang="zh-CN" altLang="en-US"/>
          </a:p>
        </p:txBody>
      </p:sp>
      <p:sp>
        <p:nvSpPr>
          <p:cNvPr id="9" name="文本占位符 8"/>
          <p:cNvSpPr>
            <a:spLocks noGrp="1"/>
          </p:cNvSpPr>
          <p:nvPr>
            <p:custDataLst>
              <p:tags r:id="rId7"/>
            </p:custDataLst>
          </p:nvPr>
        </p:nvSpPr>
        <p:spPr>
          <a:xfrm>
            <a:off x="6248400" y="1524000"/>
            <a:ext cx="2514600" cy="406400"/>
          </a:xfrm>
          <a:noFill/>
        </p:spPr>
        <p:txBody>
          <a:bodyPr lIns="0" tIns="0" rIns="0" bIns="0" anchor="t">
            <a:normAutofit/>
          </a:bodyPr>
          <a:lstStyle>
            <a:lvl1pPr marL="0" indent="0" algn="ctr"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11000"/>
              </a:lnSpc>
            </a:pPr>
            <a:r>
              <a:rPr lang="zh-CN" altLang="en-US"/>
              <a:t>训练数据集</a:t>
            </a:r>
            <a:endParaRPr lang="zh-CN" altLang="en-US"/>
          </a:p>
        </p:txBody>
      </p:sp>
      <p:sp>
        <p:nvSpPr>
          <p:cNvPr id="10" name="装饰  3"/>
          <p:cNvSpPr>
            <a:spLocks noGrp="1"/>
          </p:cNvSpPr>
          <p:nvPr>
            <p:custDataLst>
              <p:tags r:id="rId8"/>
            </p:custDataLst>
          </p:nvPr>
        </p:nvSpPr>
        <p:spPr>
          <a:xfrm>
            <a:off x="6248400" y="2082800"/>
            <a:ext cx="2514600" cy="4165600"/>
          </a:xfrm>
          <a:custGeom>
            <a:avLst/>
            <a:gdLst>
              <a:gd name="connisteX0" fmla="*/ 0 w 2514600"/>
              <a:gd name="connsiteY0" fmla="*/ 203200 h 4165600"/>
              <a:gd name="connisteX1" fmla="*/ 203200 w 2514600"/>
              <a:gd name="connsiteY1" fmla="*/ 0 h 4165600"/>
              <a:gd name="connisteX2" fmla="*/ 2311400 w 2514600"/>
              <a:gd name="connsiteY2" fmla="*/ 0 h 4165600"/>
              <a:gd name="connisteX3" fmla="*/ 2514600 w 2514600"/>
              <a:gd name="connsiteY3" fmla="*/ 203200 h 4165600"/>
              <a:gd name="connisteX4" fmla="*/ 2514600 w 2514600"/>
              <a:gd name="connsiteY4" fmla="*/ 3962400 h 4165600"/>
              <a:gd name="connisteX5" fmla="*/ 2311400 w 2514600"/>
              <a:gd name="connsiteY5" fmla="*/ 4165600 h 4165600"/>
              <a:gd name="connisteX6" fmla="*/ 203200 w 2514600"/>
              <a:gd name="connsiteY6" fmla="*/ 4165600 h 4165600"/>
              <a:gd name="connisteX7" fmla="*/ 0 w 2514600"/>
              <a:gd name="connsiteY7" fmla="*/ 3962400 h 4165600"/>
              <a:gd name="connisteX8" fmla="*/ 0 w 25146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165600">
                <a:moveTo>
                  <a:pt x="0" y="203200"/>
                </a:moveTo>
                <a:cubicBezTo>
                  <a:pt x="0" y="90976"/>
                  <a:pt x="90976" y="0"/>
                  <a:pt x="203200" y="0"/>
                </a:cubicBezTo>
                <a:lnTo>
                  <a:pt x="2311400" y="0"/>
                </a:lnTo>
                <a:cubicBezTo>
                  <a:pt x="2423624" y="0"/>
                  <a:pt x="2514600" y="90976"/>
                  <a:pt x="2514600" y="203200"/>
                </a:cubicBezTo>
                <a:lnTo>
                  <a:pt x="2514600" y="3962400"/>
                </a:lnTo>
                <a:cubicBezTo>
                  <a:pt x="2514600" y="4074624"/>
                  <a:pt x="2423624" y="4165600"/>
                  <a:pt x="23114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endParaRPr lang="zh-CN" altLang="en-US"/>
          </a:p>
        </p:txBody>
      </p:sp>
      <p:sp>
        <p:nvSpPr>
          <p:cNvPr id="11" name="文本占位符 10"/>
          <p:cNvSpPr>
            <a:spLocks noGrp="1"/>
          </p:cNvSpPr>
          <p:nvPr>
            <p:custDataLst>
              <p:tags r:id="rId9"/>
            </p:custDataLst>
          </p:nvPr>
        </p:nvSpPr>
        <p:spPr>
          <a:xfrm>
            <a:off x="6553200" y="2641600"/>
            <a:ext cx="1905000" cy="3048000"/>
          </a:xfrm>
          <a:noFill/>
        </p:spPr>
        <p:txBody>
          <a:bodyPr lIns="0" tIns="0" rIns="0" bIns="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5000"/>
              </a:lnSpc>
            </a:pPr>
            <a:r>
              <a:rPr lang="zh-CN" altLang="en-US"/>
              <a:t>使用CASIA数据集，该数据集是语音情感识别领域的核心基准数据集，通常包含由多位说话人录制的6种典型情感语音</a:t>
            </a:r>
            <a:endParaRPr lang="zh-CN" altLang="en-US"/>
          </a:p>
        </p:txBody>
      </p:sp>
      <p:sp>
        <p:nvSpPr>
          <p:cNvPr id="12" name="文本占位符 11"/>
          <p:cNvSpPr>
            <a:spLocks noGrp="1"/>
          </p:cNvSpPr>
          <p:nvPr>
            <p:custDataLst>
              <p:tags r:id="rId10"/>
            </p:custDataLst>
          </p:nvPr>
        </p:nvSpPr>
        <p:spPr>
          <a:xfrm>
            <a:off x="9067800" y="1524000"/>
            <a:ext cx="2514600" cy="406400"/>
          </a:xfrm>
          <a:noFill/>
        </p:spPr>
        <p:txBody>
          <a:bodyPr lIns="0" tIns="0" rIns="0" bIns="0" anchor="t">
            <a:normAutofit/>
          </a:bodyPr>
          <a:lstStyle>
            <a:lvl1pPr marL="0" indent="0" algn="ctr"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11000"/>
              </a:lnSpc>
            </a:pPr>
            <a:r>
              <a:rPr lang="zh-CN" altLang="en-US"/>
              <a:t>模型识别效果</a:t>
            </a:r>
            <a:endParaRPr lang="zh-CN" altLang="en-US"/>
          </a:p>
        </p:txBody>
      </p:sp>
      <p:sp>
        <p:nvSpPr>
          <p:cNvPr id="13" name="装饰  6"/>
          <p:cNvSpPr>
            <a:spLocks noGrp="1"/>
          </p:cNvSpPr>
          <p:nvPr>
            <p:custDataLst>
              <p:tags r:id="rId11"/>
            </p:custDataLst>
          </p:nvPr>
        </p:nvSpPr>
        <p:spPr>
          <a:xfrm>
            <a:off x="9067800" y="2082800"/>
            <a:ext cx="2514600" cy="4165600"/>
          </a:xfrm>
          <a:custGeom>
            <a:avLst/>
            <a:gdLst>
              <a:gd name="connisteX0" fmla="*/ 0 w 2514600"/>
              <a:gd name="connsiteY0" fmla="*/ 203200 h 4165600"/>
              <a:gd name="connisteX1" fmla="*/ 203200 w 2514600"/>
              <a:gd name="connsiteY1" fmla="*/ 0 h 4165600"/>
              <a:gd name="connisteX2" fmla="*/ 2311400 w 2514600"/>
              <a:gd name="connsiteY2" fmla="*/ 0 h 4165600"/>
              <a:gd name="connisteX3" fmla="*/ 2514600 w 2514600"/>
              <a:gd name="connsiteY3" fmla="*/ 203200 h 4165600"/>
              <a:gd name="connisteX4" fmla="*/ 2514600 w 2514600"/>
              <a:gd name="connsiteY4" fmla="*/ 3962400 h 4165600"/>
              <a:gd name="connisteX5" fmla="*/ 2311400 w 2514600"/>
              <a:gd name="connsiteY5" fmla="*/ 4165600 h 4165600"/>
              <a:gd name="connisteX6" fmla="*/ 203200 w 2514600"/>
              <a:gd name="connsiteY6" fmla="*/ 4165600 h 4165600"/>
              <a:gd name="connisteX7" fmla="*/ 0 w 2514600"/>
              <a:gd name="connsiteY7" fmla="*/ 3962400 h 4165600"/>
              <a:gd name="connisteX8" fmla="*/ 0 w 25146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165600">
                <a:moveTo>
                  <a:pt x="0" y="203200"/>
                </a:moveTo>
                <a:cubicBezTo>
                  <a:pt x="0" y="90976"/>
                  <a:pt x="90976" y="0"/>
                  <a:pt x="203200" y="0"/>
                </a:cubicBezTo>
                <a:lnTo>
                  <a:pt x="2311400" y="0"/>
                </a:lnTo>
                <a:cubicBezTo>
                  <a:pt x="2423624" y="0"/>
                  <a:pt x="2514600" y="90976"/>
                  <a:pt x="2514600" y="203200"/>
                </a:cubicBezTo>
                <a:lnTo>
                  <a:pt x="2514600" y="3962400"/>
                </a:lnTo>
                <a:cubicBezTo>
                  <a:pt x="2514600" y="4074624"/>
                  <a:pt x="2423624" y="4165600"/>
                  <a:pt x="23114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endParaRPr lang="zh-CN" altLang="en-US"/>
          </a:p>
        </p:txBody>
      </p:sp>
      <p:sp>
        <p:nvSpPr>
          <p:cNvPr id="2" name="文本占位符 13"/>
          <p:cNvSpPr>
            <a:spLocks noGrp="1"/>
          </p:cNvSpPr>
          <p:nvPr>
            <p:custDataLst>
              <p:tags r:id="rId12"/>
            </p:custDataLst>
          </p:nvPr>
        </p:nvSpPr>
        <p:spPr>
          <a:xfrm>
            <a:off x="9372600" y="2641600"/>
            <a:ext cx="1905000" cy="3048000"/>
          </a:xfrm>
          <a:noFill/>
        </p:spPr>
        <p:txBody>
          <a:bodyPr lIns="0" tIns="0" rIns="0" bIns="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5000"/>
              </a:lnSpc>
            </a:pPr>
            <a:r>
              <a:rPr lang="zh-CN" altLang="en-US"/>
              <a:t>使用深度学习模型在无法识别平静的情况下总准确率在80%以上</a:t>
            </a:r>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7" name="直接连接符 16"/>
          <p:cNvCxnSpPr/>
          <p:nvPr/>
        </p:nvCxnSpPr>
        <p:spPr>
          <a:xfrm>
            <a:off x="439299" y="431906"/>
            <a:ext cx="0" cy="345325"/>
          </a:xfrm>
          <a:prstGeom prst="line">
            <a:avLst/>
          </a:prstGeom>
          <a:ln w="92075">
            <a:solidFill>
              <a:srgbClr val="122E66"/>
            </a:solidFill>
          </a:ln>
        </p:spPr>
        <p:style>
          <a:lnRef idx="1">
            <a:srgbClr val="0E58A3"/>
          </a:lnRef>
          <a:fillRef idx="0">
            <a:srgbClr val="0E58A3"/>
          </a:fillRef>
          <a:effectRef idx="0">
            <a:srgbClr val="0E58A3"/>
          </a:effectRef>
          <a:fontRef idx="minor">
            <a:srgbClr val="000000"/>
          </a:fontRef>
        </p:style>
      </p:cxnSp>
      <p:sp>
        <p:nvSpPr>
          <p:cNvPr id="24" name="文本框 23"/>
          <p:cNvSpPr txBox="1"/>
          <p:nvPr/>
        </p:nvSpPr>
        <p:spPr>
          <a:xfrm>
            <a:off x="525924" y="413052"/>
            <a:ext cx="645449" cy="398780"/>
          </a:xfrm>
          <a:prstGeom prst="rect">
            <a:avLst/>
          </a:prstGeom>
          <a:noFill/>
        </p:spPr>
        <p:txBody>
          <a:bodyPr wrap="square" rtlCol="0">
            <a:spAutoFit/>
          </a:bodyPr>
          <a:lstStyle/>
          <a:p>
            <a:r>
              <a:rPr lang="en-US" altLang="zh-CN" sz="2000" dirty="0">
                <a:latin typeface="OPPOSans B" panose="00020600040101010101" pitchFamily="18" charset="-122"/>
                <a:ea typeface="OPPOSans B" panose="00020600040101010101" pitchFamily="18" charset="-122"/>
                <a:cs typeface="OPPOSans B" panose="00020600040101010101" pitchFamily="18" charset="-122"/>
              </a:rPr>
              <a:t>3.3</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sp>
        <p:nvSpPr>
          <p:cNvPr id="23" name="文本框 22"/>
          <p:cNvSpPr txBox="1"/>
          <p:nvPr/>
        </p:nvSpPr>
        <p:spPr>
          <a:xfrm>
            <a:off x="1024255" y="413385"/>
            <a:ext cx="2498725" cy="398780"/>
          </a:xfrm>
          <a:prstGeom prst="rect">
            <a:avLst/>
          </a:prstGeom>
          <a:noFill/>
        </p:spPr>
        <p:txBody>
          <a:bodyPr wrap="square" rtlCol="0">
            <a:spAutoFit/>
          </a:bodyPr>
          <a:lstStyle/>
          <a:p>
            <a:pPr algn="l">
              <a:lnSpc>
                <a:spcPct val="100000"/>
              </a:lnSpc>
              <a:buClrTx/>
              <a:buSzTx/>
              <a:buFontTx/>
            </a:pPr>
            <a:r>
              <a:rPr lang="zh-CN" altLang="en-US" sz="2000" dirty="0">
                <a:latin typeface="OPPOSans B" panose="00020600040101010101" pitchFamily="18" charset="-122"/>
                <a:ea typeface="OPPOSans B" panose="00020600040101010101" pitchFamily="18" charset="-122"/>
                <a:cs typeface="OPPOSans B" panose="00020600040101010101" pitchFamily="18" charset="-122"/>
                <a:sym typeface="+mn-ea"/>
              </a:rPr>
              <a:t>语音情感识别子模块</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cxnSp>
        <p:nvCxnSpPr>
          <p:cNvPr id="14" name="直接连接符 13"/>
          <p:cNvCxnSpPr/>
          <p:nvPr/>
        </p:nvCxnSpPr>
        <p:spPr>
          <a:xfrm flipV="1">
            <a:off x="-16631" y="1121789"/>
            <a:ext cx="11936730" cy="12065"/>
          </a:xfrm>
          <a:prstGeom prst="line">
            <a:avLst/>
          </a:prstGeom>
          <a:ln>
            <a:solidFill>
              <a:srgbClr val="FFFFFF">
                <a:lumMod val="85000"/>
              </a:srgbClr>
            </a:solidFill>
          </a:ln>
        </p:spPr>
        <p:style>
          <a:lnRef idx="1">
            <a:srgbClr val="0E58A3"/>
          </a:lnRef>
          <a:fillRef idx="0">
            <a:srgbClr val="0E58A3"/>
          </a:fillRef>
          <a:effectRef idx="0">
            <a:srgbClr val="0E58A3"/>
          </a:effectRef>
          <a:fontRef idx="minor">
            <a:srgbClr val="000000"/>
          </a:fontRef>
        </p:style>
      </p:cxnSp>
      <p:pic>
        <p:nvPicPr>
          <p:cNvPr id="2" name="图片 1" descr="屏幕截图 2026-05-15 221514"/>
          <p:cNvPicPr>
            <a:picLocks noChangeAspect="1"/>
          </p:cNvPicPr>
          <p:nvPr/>
        </p:nvPicPr>
        <p:blipFill>
          <a:blip r:embed="rId1"/>
          <a:stretch>
            <a:fillRect/>
          </a:stretch>
        </p:blipFill>
        <p:spPr>
          <a:xfrm>
            <a:off x="1074420" y="1718945"/>
            <a:ext cx="7407275" cy="3767455"/>
          </a:xfrm>
          <a:prstGeom prst="rect">
            <a:avLst/>
          </a:prstGeom>
        </p:spPr>
      </p:pic>
      <p:sp>
        <p:nvSpPr>
          <p:cNvPr id="3" name="文本框 2"/>
          <p:cNvSpPr txBox="1"/>
          <p:nvPr/>
        </p:nvSpPr>
        <p:spPr>
          <a:xfrm>
            <a:off x="1074420" y="1288415"/>
            <a:ext cx="5556250" cy="368300"/>
          </a:xfrm>
          <a:prstGeom prst="rect">
            <a:avLst/>
          </a:prstGeom>
          <a:noFill/>
        </p:spPr>
        <p:txBody>
          <a:bodyPr wrap="square" rtlCol="0">
            <a:spAutoFit/>
          </a:bodyPr>
          <a:p>
            <a:r>
              <a:rPr lang="zh-CN" altLang="en-US"/>
              <a:t>对于难以识别的语音进行概率分析并排序兼容</a:t>
            </a:r>
            <a:r>
              <a:rPr lang="zh-CN" altLang="en-US"/>
              <a:t>输出</a:t>
            </a:r>
            <a:endParaRPr lang="zh-CN" altLang="en-US"/>
          </a:p>
        </p:txBody>
      </p:sp>
      <p:sp>
        <p:nvSpPr>
          <p:cNvPr id="4" name="文本框 3"/>
          <p:cNvSpPr txBox="1"/>
          <p:nvPr/>
        </p:nvSpPr>
        <p:spPr>
          <a:xfrm>
            <a:off x="1074420" y="5548630"/>
            <a:ext cx="6444615" cy="1198880"/>
          </a:xfrm>
          <a:prstGeom prst="rect">
            <a:avLst/>
          </a:prstGeom>
          <a:noFill/>
        </p:spPr>
        <p:txBody>
          <a:bodyPr wrap="square" rtlCol="0">
            <a:spAutoFit/>
          </a:bodyPr>
          <a:p>
            <a:r>
              <a:rPr lang="zh-CN" altLang="en-US"/>
              <a:t>提升</a:t>
            </a:r>
            <a:r>
              <a:rPr lang="zh-CN" altLang="en-US"/>
              <a:t>空间：</a:t>
            </a:r>
            <a:endParaRPr lang="zh-CN" altLang="en-US"/>
          </a:p>
          <a:p>
            <a:r>
              <a:rPr lang="zh-CN" altLang="en-US"/>
              <a:t>模型专业化：训练好的模型任务与项目任务不</a:t>
            </a:r>
            <a:r>
              <a:rPr lang="zh-CN" altLang="en-US"/>
              <a:t>完全匹配</a:t>
            </a:r>
            <a:endParaRPr lang="zh-CN" altLang="en-US"/>
          </a:p>
          <a:p>
            <a:r>
              <a:rPr lang="zh-CN" altLang="en-US"/>
              <a:t>自然语音数据集：现有数据集机械性太强，使模型过拟合，不适应自然场景</a:t>
            </a:r>
            <a:r>
              <a:rPr lang="zh-CN" altLang="en-US"/>
              <a:t>应用</a:t>
            </a:r>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7" name="直接连接符 16"/>
          <p:cNvCxnSpPr/>
          <p:nvPr/>
        </p:nvCxnSpPr>
        <p:spPr>
          <a:xfrm>
            <a:off x="439299" y="431906"/>
            <a:ext cx="0" cy="345325"/>
          </a:xfrm>
          <a:prstGeom prst="line">
            <a:avLst/>
          </a:prstGeom>
          <a:ln w="92075">
            <a:solidFill>
              <a:srgbClr val="122E66"/>
            </a:solidFill>
          </a:ln>
        </p:spPr>
        <p:style>
          <a:lnRef idx="1">
            <a:srgbClr val="0E58A3"/>
          </a:lnRef>
          <a:fillRef idx="0">
            <a:srgbClr val="0E58A3"/>
          </a:fillRef>
          <a:effectRef idx="0">
            <a:srgbClr val="0E58A3"/>
          </a:effectRef>
          <a:fontRef idx="minor">
            <a:srgbClr val="000000"/>
          </a:fontRef>
        </p:style>
      </p:cxnSp>
      <p:sp>
        <p:nvSpPr>
          <p:cNvPr id="24" name="文本框 23"/>
          <p:cNvSpPr txBox="1"/>
          <p:nvPr/>
        </p:nvSpPr>
        <p:spPr>
          <a:xfrm>
            <a:off x="525924" y="413052"/>
            <a:ext cx="645449" cy="398780"/>
          </a:xfrm>
          <a:prstGeom prst="rect">
            <a:avLst/>
          </a:prstGeom>
          <a:noFill/>
        </p:spPr>
        <p:txBody>
          <a:bodyPr wrap="square" rtlCol="0">
            <a:spAutoFit/>
          </a:bodyPr>
          <a:lstStyle/>
          <a:p>
            <a:r>
              <a:rPr lang="en-US" altLang="zh-CN" sz="2000" dirty="0">
                <a:latin typeface="OPPOSans B" panose="00020600040101010101" pitchFamily="18" charset="-122"/>
                <a:ea typeface="OPPOSans B" panose="00020600040101010101" pitchFamily="18" charset="-122"/>
                <a:cs typeface="OPPOSans B" panose="00020600040101010101" pitchFamily="18" charset="-122"/>
              </a:rPr>
              <a:t>3.3</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sp>
        <p:nvSpPr>
          <p:cNvPr id="23" name="文本框 22"/>
          <p:cNvSpPr txBox="1"/>
          <p:nvPr/>
        </p:nvSpPr>
        <p:spPr>
          <a:xfrm>
            <a:off x="1024255" y="413385"/>
            <a:ext cx="2498725" cy="398780"/>
          </a:xfrm>
          <a:prstGeom prst="rect">
            <a:avLst/>
          </a:prstGeom>
          <a:noFill/>
        </p:spPr>
        <p:txBody>
          <a:bodyPr wrap="square" rtlCol="0">
            <a:spAutoFit/>
          </a:bodyPr>
          <a:lstStyle/>
          <a:p>
            <a:pPr algn="l">
              <a:lnSpc>
                <a:spcPct val="100000"/>
              </a:lnSpc>
              <a:buClrTx/>
              <a:buSzTx/>
              <a:buFontTx/>
            </a:pPr>
            <a:r>
              <a:rPr lang="zh-CN" altLang="en-US" sz="2000" dirty="0">
                <a:latin typeface="OPPOSans B" panose="00020600040101010101" pitchFamily="18" charset="-122"/>
                <a:ea typeface="OPPOSans B" panose="00020600040101010101" pitchFamily="18" charset="-122"/>
                <a:cs typeface="OPPOSans B" panose="00020600040101010101" pitchFamily="18" charset="-122"/>
              </a:rPr>
              <a:t>情感</a:t>
            </a:r>
            <a:r>
              <a:rPr lang="zh-CN" altLang="en-US" sz="2000" dirty="0">
                <a:latin typeface="OPPOSans B" panose="00020600040101010101" pitchFamily="18" charset="-122"/>
                <a:ea typeface="OPPOSans B" panose="00020600040101010101" pitchFamily="18" charset="-122"/>
                <a:cs typeface="OPPOSans B" panose="00020600040101010101" pitchFamily="18" charset="-122"/>
              </a:rPr>
              <a:t>合成子模块</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cxnSp>
        <p:nvCxnSpPr>
          <p:cNvPr id="14" name="直接连接符 13"/>
          <p:cNvCxnSpPr/>
          <p:nvPr/>
        </p:nvCxnSpPr>
        <p:spPr>
          <a:xfrm flipV="1">
            <a:off x="-16631" y="1121789"/>
            <a:ext cx="11936730" cy="12065"/>
          </a:xfrm>
          <a:prstGeom prst="line">
            <a:avLst/>
          </a:prstGeom>
          <a:ln>
            <a:solidFill>
              <a:srgbClr val="FFFFFF">
                <a:lumMod val="85000"/>
              </a:srgbClr>
            </a:solidFill>
          </a:ln>
        </p:spPr>
        <p:style>
          <a:lnRef idx="1">
            <a:srgbClr val="0E58A3"/>
          </a:lnRef>
          <a:fillRef idx="0">
            <a:srgbClr val="0E58A3"/>
          </a:fillRef>
          <a:effectRef idx="0">
            <a:srgbClr val="0E58A3"/>
          </a:effectRef>
          <a:fontRef idx="minor">
            <a:srgbClr val="000000"/>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7" name="直接连接符 16"/>
          <p:cNvCxnSpPr/>
          <p:nvPr/>
        </p:nvCxnSpPr>
        <p:spPr>
          <a:xfrm>
            <a:off x="439299" y="431906"/>
            <a:ext cx="0" cy="345325"/>
          </a:xfrm>
          <a:prstGeom prst="line">
            <a:avLst/>
          </a:prstGeom>
          <a:ln w="92075">
            <a:solidFill>
              <a:srgbClr val="122E66"/>
            </a:solidFill>
          </a:ln>
        </p:spPr>
        <p:style>
          <a:lnRef idx="1">
            <a:srgbClr val="0E58A3"/>
          </a:lnRef>
          <a:fillRef idx="0">
            <a:srgbClr val="0E58A3"/>
          </a:fillRef>
          <a:effectRef idx="0">
            <a:srgbClr val="0E58A3"/>
          </a:effectRef>
          <a:fontRef idx="minor">
            <a:srgbClr val="000000"/>
          </a:fontRef>
        </p:style>
      </p:cxnSp>
      <p:sp>
        <p:nvSpPr>
          <p:cNvPr id="24" name="文本框 23"/>
          <p:cNvSpPr txBox="1"/>
          <p:nvPr/>
        </p:nvSpPr>
        <p:spPr>
          <a:xfrm>
            <a:off x="525924" y="413052"/>
            <a:ext cx="645449" cy="398780"/>
          </a:xfrm>
          <a:prstGeom prst="rect">
            <a:avLst/>
          </a:prstGeom>
          <a:noFill/>
        </p:spPr>
        <p:txBody>
          <a:bodyPr wrap="square" rtlCol="0">
            <a:spAutoFit/>
          </a:bodyPr>
          <a:lstStyle/>
          <a:p>
            <a:r>
              <a:rPr lang="en-US" altLang="zh-CN" sz="2000" dirty="0">
                <a:latin typeface="OPPOSans B" panose="00020600040101010101" pitchFamily="18" charset="-122"/>
                <a:ea typeface="OPPOSans B" panose="00020600040101010101" pitchFamily="18" charset="-122"/>
                <a:cs typeface="OPPOSans B" panose="00020600040101010101" pitchFamily="18" charset="-122"/>
              </a:rPr>
              <a:t>3.4</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sp>
        <p:nvSpPr>
          <p:cNvPr id="23" name="文本框 22"/>
          <p:cNvSpPr txBox="1"/>
          <p:nvPr/>
        </p:nvSpPr>
        <p:spPr>
          <a:xfrm>
            <a:off x="1024255" y="413385"/>
            <a:ext cx="2498725" cy="398780"/>
          </a:xfrm>
          <a:prstGeom prst="rect">
            <a:avLst/>
          </a:prstGeom>
          <a:noFill/>
        </p:spPr>
        <p:txBody>
          <a:bodyPr wrap="square" rtlCol="0">
            <a:spAutoFit/>
          </a:bodyPr>
          <a:lstStyle/>
          <a:p>
            <a:pPr algn="l">
              <a:lnSpc>
                <a:spcPct val="100000"/>
              </a:lnSpc>
              <a:buClrTx/>
              <a:buSzTx/>
              <a:buFontTx/>
            </a:pPr>
            <a:r>
              <a:rPr lang="zh-CN" altLang="en-US" sz="2000" dirty="0">
                <a:latin typeface="OPPOSans B" panose="00020600040101010101" pitchFamily="18" charset="-122"/>
                <a:ea typeface="OPPOSans B" panose="00020600040101010101" pitchFamily="18" charset="-122"/>
                <a:cs typeface="OPPOSans B" panose="00020600040101010101" pitchFamily="18" charset="-122"/>
              </a:rPr>
              <a:t>桌宠</a:t>
            </a:r>
            <a:r>
              <a:rPr lang="zh-CN" altLang="en-US" sz="2000" dirty="0">
                <a:latin typeface="OPPOSans B" panose="00020600040101010101" pitchFamily="18" charset="-122"/>
                <a:ea typeface="OPPOSans B" panose="00020600040101010101" pitchFamily="18" charset="-122"/>
                <a:cs typeface="OPPOSans B" panose="00020600040101010101" pitchFamily="18" charset="-122"/>
              </a:rPr>
              <a:t>系统子模块</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cxnSp>
        <p:nvCxnSpPr>
          <p:cNvPr id="14" name="直接连接符 13"/>
          <p:cNvCxnSpPr/>
          <p:nvPr/>
        </p:nvCxnSpPr>
        <p:spPr>
          <a:xfrm flipV="1">
            <a:off x="-16631" y="1121789"/>
            <a:ext cx="11936730" cy="12065"/>
          </a:xfrm>
          <a:prstGeom prst="line">
            <a:avLst/>
          </a:prstGeom>
          <a:ln>
            <a:solidFill>
              <a:srgbClr val="FFFFFF">
                <a:lumMod val="85000"/>
              </a:srgbClr>
            </a:solidFill>
          </a:ln>
        </p:spPr>
        <p:style>
          <a:lnRef idx="1">
            <a:srgbClr val="0E58A3"/>
          </a:lnRef>
          <a:fillRef idx="0">
            <a:srgbClr val="0E58A3"/>
          </a:fillRef>
          <a:effectRef idx="0">
            <a:srgbClr val="0E58A3"/>
          </a:effectRef>
          <a:fontRef idx="minor">
            <a:srgbClr val="000000"/>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737995" y="2728595"/>
            <a:ext cx="8716645" cy="922020"/>
          </a:xfrm>
          <a:prstGeom prst="rect">
            <a:avLst/>
          </a:prstGeom>
          <a:noFill/>
        </p:spPr>
        <p:txBody>
          <a:bodyPr wrap="square" rtlCol="0">
            <a:spAutoFit/>
          </a:bodyPr>
          <a:lstStyle/>
          <a:p>
            <a:pPr algn="ctr"/>
            <a:r>
              <a:rPr lang="zh-CN" sz="5400" b="1">
                <a:solidFill>
                  <a:schemeClr val="tx2">
                    <a:lumMod val="75000"/>
                    <a:lumOff val="25000"/>
                  </a:schemeClr>
                </a:solidFill>
                <a:latin typeface="MiSans Normal" panose="00000500000000000000" charset="-122"/>
                <a:ea typeface="MiSans Normal" panose="00000500000000000000" charset="-122"/>
                <a:cs typeface="MiSans Normal" panose="00000500000000000000" charset="-122"/>
              </a:rPr>
              <a:t>原型展示</a:t>
            </a:r>
            <a:endParaRPr lang="zh-CN" sz="5400" b="1">
              <a:solidFill>
                <a:schemeClr val="tx2">
                  <a:lumMod val="75000"/>
                  <a:lumOff val="25000"/>
                </a:schemeClr>
              </a:solidFill>
              <a:latin typeface="MiSans Normal" panose="00000500000000000000" charset="-122"/>
              <a:ea typeface="MiSans Normal" panose="00000500000000000000" charset="-122"/>
              <a:cs typeface="MiSans Normal" panose="00000500000000000000" charset="-122"/>
            </a:endParaRPr>
          </a:p>
        </p:txBody>
      </p:sp>
      <p:sp>
        <p:nvSpPr>
          <p:cNvPr id="23" name="流程图: 终止 22"/>
          <p:cNvSpPr/>
          <p:nvPr/>
        </p:nvSpPr>
        <p:spPr>
          <a:xfrm>
            <a:off x="5116830" y="5075555"/>
            <a:ext cx="1959610" cy="501015"/>
          </a:xfrm>
          <a:prstGeom prst="flowChartTerminator">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MiSans Normal" panose="00000500000000000000" charset="-122"/>
                <a:ea typeface="MiSans Normal" panose="00000500000000000000" charset="-122"/>
              </a:rPr>
              <a:t>P A R T . 0 4</a:t>
            </a:r>
            <a:endParaRPr lang="en-US" altLang="zh-CN">
              <a:latin typeface="MiSans Normal" panose="00000500000000000000" charset="-122"/>
              <a:ea typeface="MiSans Normal" panose="00000500000000000000" charset="-122"/>
            </a:endParaRPr>
          </a:p>
        </p:txBody>
      </p:sp>
      <p:sp>
        <p:nvSpPr>
          <p:cNvPr id="26" name="文本框 25"/>
          <p:cNvSpPr txBox="1"/>
          <p:nvPr/>
        </p:nvSpPr>
        <p:spPr>
          <a:xfrm>
            <a:off x="1720850" y="3915410"/>
            <a:ext cx="8750935" cy="368300"/>
          </a:xfrm>
          <a:prstGeom prst="rect">
            <a:avLst/>
          </a:prstGeom>
          <a:noFill/>
        </p:spPr>
        <p:txBody>
          <a:bodyPr wrap="square" rtlCol="0">
            <a:spAutoFit/>
          </a:bodyPr>
          <a:lstStyle/>
          <a:p>
            <a:pPr algn="ctr"/>
            <a:r>
              <a:rPr lang="zh-CN" altLang="en-US" i="1">
                <a:solidFill>
                  <a:schemeClr val="tx2">
                    <a:lumMod val="75000"/>
                    <a:lumOff val="25000"/>
                  </a:schemeClr>
                </a:solidFill>
                <a:latin typeface="MiSans Normal" panose="00000500000000000000" charset="-122"/>
                <a:ea typeface="MiSans Normal" panose="00000500000000000000" charset="-122"/>
              </a:rPr>
              <a:t>Interface display</a:t>
            </a:r>
            <a:endParaRPr lang="zh-CN" altLang="en-US" i="1">
              <a:solidFill>
                <a:schemeClr val="tx2">
                  <a:lumMod val="75000"/>
                  <a:lumOff val="25000"/>
                </a:schemeClr>
              </a:solidFill>
              <a:latin typeface="MiSans Normal" panose="00000500000000000000" charset="-122"/>
              <a:ea typeface="MiSans Normal" panose="00000500000000000000" charset="-122"/>
            </a:endParaRPr>
          </a:p>
        </p:txBody>
      </p:sp>
      <p:sp>
        <p:nvSpPr>
          <p:cNvPr id="2" name="文本框 1"/>
          <p:cNvSpPr txBox="1"/>
          <p:nvPr/>
        </p:nvSpPr>
        <p:spPr>
          <a:xfrm>
            <a:off x="4899660" y="1356995"/>
            <a:ext cx="2393950" cy="1106805"/>
          </a:xfrm>
          <a:prstGeom prst="rect">
            <a:avLst/>
          </a:prstGeom>
          <a:noFill/>
        </p:spPr>
        <p:txBody>
          <a:bodyPr wrap="square" rtlCol="0">
            <a:spAutoFit/>
          </a:bodyPr>
          <a:lstStyle/>
          <a:p>
            <a:pPr algn="ctr"/>
            <a:r>
              <a:rPr lang="en-US" altLang="zh-CN" sz="6600">
                <a:solidFill>
                  <a:schemeClr val="tx2">
                    <a:lumMod val="75000"/>
                    <a:lumOff val="25000"/>
                  </a:schemeClr>
                </a:solidFill>
                <a:latin typeface="MiSans Normal" panose="00000500000000000000" charset="-122"/>
                <a:ea typeface="MiSans Normal" panose="00000500000000000000" charset="-122"/>
              </a:rPr>
              <a:t>04</a:t>
            </a:r>
            <a:endParaRPr lang="en-US" altLang="zh-CN" sz="6600">
              <a:solidFill>
                <a:schemeClr val="tx2">
                  <a:lumMod val="75000"/>
                  <a:lumOff val="25000"/>
                </a:schemeClr>
              </a:solidFill>
              <a:latin typeface="MiSans Normal" panose="00000500000000000000" charset="-122"/>
              <a:ea typeface="MiSans Normal" panose="00000500000000000000" charset="-122"/>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7" name="直接连接符 16"/>
          <p:cNvCxnSpPr/>
          <p:nvPr/>
        </p:nvCxnSpPr>
        <p:spPr>
          <a:xfrm>
            <a:off x="439299" y="431906"/>
            <a:ext cx="0" cy="345325"/>
          </a:xfrm>
          <a:prstGeom prst="line">
            <a:avLst/>
          </a:prstGeom>
          <a:ln w="92075">
            <a:solidFill>
              <a:srgbClr val="122E66"/>
            </a:solidFill>
          </a:ln>
        </p:spPr>
        <p:style>
          <a:lnRef idx="1">
            <a:srgbClr val="0E58A3"/>
          </a:lnRef>
          <a:fillRef idx="0">
            <a:srgbClr val="0E58A3"/>
          </a:fillRef>
          <a:effectRef idx="0">
            <a:srgbClr val="0E58A3"/>
          </a:effectRef>
          <a:fontRef idx="minor">
            <a:srgbClr val="000000"/>
          </a:fontRef>
        </p:style>
      </p:cxnSp>
      <p:sp>
        <p:nvSpPr>
          <p:cNvPr id="24" name="文本框 23"/>
          <p:cNvSpPr txBox="1"/>
          <p:nvPr/>
        </p:nvSpPr>
        <p:spPr>
          <a:xfrm>
            <a:off x="525924" y="413052"/>
            <a:ext cx="645449" cy="398780"/>
          </a:xfrm>
          <a:prstGeom prst="rect">
            <a:avLst/>
          </a:prstGeom>
          <a:noFill/>
        </p:spPr>
        <p:txBody>
          <a:bodyPr wrap="square" rtlCol="0">
            <a:spAutoFit/>
          </a:bodyPr>
          <a:lstStyle/>
          <a:p>
            <a:r>
              <a:rPr lang="en-US" altLang="zh-CN" sz="2000" dirty="0">
                <a:latin typeface="OPPOSans B" panose="00020600040101010101" pitchFamily="18" charset="-122"/>
                <a:ea typeface="OPPOSans B" panose="00020600040101010101" pitchFamily="18" charset="-122"/>
                <a:cs typeface="OPPOSans B" panose="00020600040101010101" pitchFamily="18" charset="-122"/>
              </a:rPr>
              <a:t>4</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sp>
        <p:nvSpPr>
          <p:cNvPr id="23" name="文本框 22"/>
          <p:cNvSpPr txBox="1"/>
          <p:nvPr/>
        </p:nvSpPr>
        <p:spPr>
          <a:xfrm>
            <a:off x="902335" y="412750"/>
            <a:ext cx="2498725" cy="398780"/>
          </a:xfrm>
          <a:prstGeom prst="rect">
            <a:avLst/>
          </a:prstGeom>
          <a:noFill/>
        </p:spPr>
        <p:txBody>
          <a:bodyPr wrap="square" rtlCol="0">
            <a:spAutoFit/>
          </a:bodyPr>
          <a:lstStyle/>
          <a:p>
            <a:pPr algn="l">
              <a:lnSpc>
                <a:spcPct val="100000"/>
              </a:lnSpc>
              <a:buClrTx/>
              <a:buSzTx/>
              <a:buFontTx/>
            </a:pPr>
            <a:r>
              <a:rPr lang="en-US" altLang="zh-CN" sz="2000" dirty="0">
                <a:latin typeface="OPPOSans B" panose="00020600040101010101" pitchFamily="18" charset="-122"/>
                <a:ea typeface="OPPOSans B" panose="00020600040101010101" pitchFamily="18" charset="-122"/>
                <a:cs typeface="OPPOSans B" panose="00020600040101010101" pitchFamily="18" charset="-122"/>
              </a:rPr>
              <a:t>demo</a:t>
            </a:r>
            <a:r>
              <a:rPr lang="zh-CN" altLang="en-US" sz="2000" dirty="0">
                <a:latin typeface="OPPOSans B" panose="00020600040101010101" pitchFamily="18" charset="-122"/>
                <a:ea typeface="OPPOSans B" panose="00020600040101010101" pitchFamily="18" charset="-122"/>
                <a:cs typeface="OPPOSans B" panose="00020600040101010101" pitchFamily="18" charset="-122"/>
              </a:rPr>
              <a:t>展示</a:t>
            </a:r>
            <a:endParaRPr lang="zh-CN" altLang="en-US" sz="2000" dirty="0">
              <a:latin typeface="OPPOSans B" panose="00020600040101010101" pitchFamily="18" charset="-122"/>
              <a:ea typeface="OPPOSans B" panose="00020600040101010101" pitchFamily="18" charset="-122"/>
              <a:cs typeface="OPPOSans B" panose="00020600040101010101" pitchFamily="18" charset="-122"/>
            </a:endParaRPr>
          </a:p>
        </p:txBody>
      </p:sp>
      <p:cxnSp>
        <p:nvCxnSpPr>
          <p:cNvPr id="14" name="直接连接符 13"/>
          <p:cNvCxnSpPr/>
          <p:nvPr/>
        </p:nvCxnSpPr>
        <p:spPr>
          <a:xfrm flipV="1">
            <a:off x="-16631" y="1121789"/>
            <a:ext cx="11936730" cy="12065"/>
          </a:xfrm>
          <a:prstGeom prst="line">
            <a:avLst/>
          </a:prstGeom>
          <a:ln>
            <a:solidFill>
              <a:srgbClr val="FFFFFF">
                <a:lumMod val="85000"/>
              </a:srgbClr>
            </a:solidFill>
          </a:ln>
        </p:spPr>
        <p:style>
          <a:lnRef idx="1">
            <a:srgbClr val="0E58A3"/>
          </a:lnRef>
          <a:fillRef idx="0">
            <a:srgbClr val="0E58A3"/>
          </a:fillRef>
          <a:effectRef idx="0">
            <a:srgbClr val="0E58A3"/>
          </a:effectRef>
          <a:fontRef idx="minor">
            <a:srgbClr val="000000"/>
          </a:fontRef>
        </p:style>
      </p:cxn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DIAGRAM_VIRTUALLY_FRAME" val="{&quot;height&quot;:361.55645669291346,&quot;left&quot;:68.43866141732278,&quot;top&quot;:75.74299212598423,&quot;width&quot;:797.7672440944881}"/>
</p:tagLst>
</file>

<file path=ppt/tags/tag2.xml><?xml version="1.0" encoding="utf-8"?>
<p:tagLst xmlns:p="http://schemas.openxmlformats.org/presentationml/2006/main">
  <p:tag name="KSO_WM_DIAGRAM_VIRTUALLY_FRAME" val="{&quot;height&quot;:361.55645669291346,&quot;left&quot;:68.43866141732278,&quot;top&quot;:75.74299212598423,&quot;width&quot;:797.7672440944881}"/>
</p:tagLst>
</file>

<file path=ppt/tags/tag3.xml><?xml version="1.0" encoding="utf-8"?>
<p:tagLst xmlns:p="http://schemas.openxmlformats.org/presentationml/2006/main">
  <p:tag name="KSO_WM_DIAGRAM_VIRTUALLY_FRAME" val="{&quot;height&quot;:361.55645669291346,&quot;left&quot;:68.43866141732278,&quot;top&quot;:75.74299212598423,&quot;width&quot;:797.7672440944881}"/>
</p:tagLst>
</file>

<file path=ppt/tags/tag4.xml><?xml version="1.0" encoding="utf-8"?>
<p:tagLst xmlns:p="http://schemas.openxmlformats.org/presentationml/2006/main">
  <p:tag name="KSO_WM_DIAGRAM_VIRTUALLY_FRAME" val="{&quot;height&quot;:361.55645669291346,&quot;left&quot;:68.43866141732278,&quot;top&quot;:75.74299212598423,&quot;width&quot;:797.7672440944881}"/>
</p:tagLst>
</file>

<file path=ppt/tags/tag5.xml><?xml version="1.0" encoding="utf-8"?>
<p:tagLst xmlns:p="http://schemas.openxmlformats.org/presentationml/2006/main">
  <p:tag name="KSO_WM_DIAGRAM_VIRTUALLY_FRAME" val="{&quot;height&quot;:361.55645669291346,&quot;left&quot;:68.43866141732278,&quot;top&quot;:75.74299212598423,&quot;width&quot;:797.7672440944881}"/>
</p:tagLst>
</file>

<file path=ppt/tags/tag6.xml><?xml version="1.0" encoding="utf-8"?>
<p:tagLst xmlns:p="http://schemas.openxmlformats.org/presentationml/2006/main">
  <p:tag name="KSO_WM_DIAGRAM_VIRTUALLY_FRAME" val="{&quot;height&quot;:361.55645669291346,&quot;left&quot;:68.43866141732278,&quot;top&quot;:75.74299212598423,&quot;width&quot;:797.7672440944881}"/>
</p:tagLst>
</file>

<file path=ppt/tags/tag7.xml><?xml version="1.0" encoding="utf-8"?>
<p:tagLst xmlns:p="http://schemas.openxmlformats.org/presentationml/2006/main">
  <p:tag name="KSO_WM_DIAGRAM_VIRTUALLY_FRAME" val="{&quot;height&quot;:361.55645669291346,&quot;left&quot;:68.43866141732278,&quot;top&quot;:75.74299212598423,&quot;width&quot;:797.7672440944881}"/>
</p:tagLst>
</file>

<file path=ppt/tags/tag8.xml><?xml version="1.0" encoding="utf-8"?>
<p:tagLst xmlns:p="http://schemas.openxmlformats.org/presentationml/2006/main">
  <p:tag name="KSO_WM_DIAGRAM_VIRTUALLY_FRAME" val="{&quot;height&quot;:361.55645669291346,&quot;left&quot;:68.43866141732278,&quot;top&quot;:75.74299212598423,&quot;width&quot;:797.7672440944881}"/>
</p:tagLst>
</file>

<file path=ppt/tags/tag9.xml><?xml version="1.0" encoding="utf-8"?>
<p:tagLst xmlns:p="http://schemas.openxmlformats.org/presentationml/2006/main">
  <p:tag name="KSO_WM_DIAGRAM_VIRTUALLY_FRAME" val="{&quot;height&quot;:361.55645669291346,&quot;left&quot;:68.43866141732278,&quot;top&quot;:75.74299212598423,&quot;width&quot;:797.7672440944881}"/>
</p:tagLst>
</file>

<file path=ppt/tags/tag10.xml><?xml version="1.0" encoding="utf-8"?>
<p:tagLst xmlns:p="http://schemas.openxmlformats.org/presentationml/2006/main">
  <p:tag name="KSO_WM_DIAGRAM_VIRTUALLY_FRAME" val="{&quot;height&quot;:361.55645669291346,&quot;left&quot;:68.43866141732278,&quot;top&quot;:75.74299212598423,&quot;width&quot;:797.7672440944881}"/>
</p:tagLst>
</file>

<file path=ppt/tags/tag11.xml><?xml version="1.0" encoding="utf-8"?>
<p:tagLst xmlns:p="http://schemas.openxmlformats.org/presentationml/2006/main">
  <p:tag name="KSO_WM_DIAGRAM_VIRTUALLY_FRAME" val="{&quot;height&quot;:361.55645669291346,&quot;left&quot;:68.43866141732278,&quot;top&quot;:75.74299212598423,&quot;width&quot;:797.7672440944881}"/>
</p:tagLst>
</file>

<file path=ppt/tags/tag12.xml><?xml version="1.0" encoding="utf-8"?>
<p:tagLst xmlns:p="http://schemas.openxmlformats.org/presentationml/2006/main">
  <p:tag name="KSO_WM_DIAGRAM_VIRTUALLY_FRAME" val="{&quot;height&quot;:361.55645669291346,&quot;left&quot;:68.43866141732278,&quot;top&quot;:75.74299212598423,&quot;width&quot;:797.7672440944881}"/>
</p:tagLst>
</file>

<file path=ppt/tags/tag13.xml><?xml version="1.0" encoding="utf-8"?>
<p:tagLst xmlns:p="http://schemas.openxmlformats.org/presentationml/2006/main">
  <p:tag name="KSO_WM_DIAGRAM_VIRTUALLY_FRAME" val="{&quot;height&quot;:361.55645669291346,&quot;left&quot;:68.43866141732278,&quot;top&quot;:75.74299212598423,&quot;width&quot;:797.7672440944881}"/>
</p:tagLst>
</file>

<file path=ppt/tags/tag14.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6.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7.xml><?xml version="1.0" encoding="utf-8"?>
<p:tagLst xmlns:p="http://schemas.openxmlformats.org/presentationml/2006/main">
  <p:tag name="KSO_WM_DIAGRAM_VIRTUALLY_FRAME" val="{&quot;height&quot;:411.0159845039583,&quot;left&quot;:34.6,&quot;top&quot;:113.70000000000002,&quot;width&quot;:400.45}"/>
</p:tagLst>
</file>

<file path=ppt/tags/tag18.xml><?xml version="1.0" encoding="utf-8"?>
<p:tagLst xmlns:p="http://schemas.openxmlformats.org/presentationml/2006/main">
  <p:tag name="KSO_WM_DIAGRAM_VIRTUALLY_FRAME" val="{&quot;height&quot;:411.0159845039583,&quot;left&quot;:34.6,&quot;top&quot;:113.70000000000002,&quot;width&quot;:400.45}"/>
</p:tagLst>
</file>

<file path=ppt/tags/tag19.xml><?xml version="1.0" encoding="utf-8"?>
<p:tagLst xmlns:p="http://schemas.openxmlformats.org/presentationml/2006/main">
  <p:tag name="KSO_WM_DIAGRAM_VIRTUALLY_FRAME" val="{&quot;height&quot;:411.0159845039583,&quot;left&quot;:34.6,&quot;top&quot;:113.70000000000002,&quot;width&quot;:400.45}"/>
</p:tagLst>
</file>

<file path=ppt/tags/tag20.xml><?xml version="1.0" encoding="utf-8"?>
<p:tagLst xmlns:p="http://schemas.openxmlformats.org/presentationml/2006/main">
  <p:tag name="KSO_WM_DIAGRAM_VIRTUALLY_FRAME" val="{&quot;height&quot;:411.0159845039583,&quot;left&quot;:34.6,&quot;top&quot;:113.70000000000002,&quot;width&quot;:400.45}"/>
</p:tagLst>
</file>

<file path=ppt/tags/tag21.xml><?xml version="1.0" encoding="utf-8"?>
<p:tagLst xmlns:p="http://schemas.openxmlformats.org/presentationml/2006/main">
  <p:tag name="KSO_WM_DIAGRAM_VIRTUALLY_FRAME" val="{&quot;height&quot;:411.0159845039583,&quot;left&quot;:34.6,&quot;top&quot;:113.70000000000002,&quot;width&quot;:400.45}"/>
</p:tagLst>
</file>

<file path=ppt/tags/tag22.xml><?xml version="1.0" encoding="utf-8"?>
<p:tagLst xmlns:p="http://schemas.openxmlformats.org/presentationml/2006/main">
  <p:tag name="KSO_WM_DIAGRAM_VIRTUALLY_FRAME" val="{&quot;height&quot;:411.0159845039583,&quot;left&quot;:34.6,&quot;top&quot;:113.70000000000002,&quot;width&quot;:400.45}"/>
</p:tagLst>
</file>

<file path=ppt/tags/tag23.xml><?xml version="1.0" encoding="utf-8"?>
<p:tagLst xmlns:p="http://schemas.openxmlformats.org/presentationml/2006/main">
  <p:tag name="KSO_WM_DIAGRAM_VIRTUALLY_FRAME" val="{&quot;height&quot;:411.0159845039583,&quot;left&quot;:34.6,&quot;top&quot;:113.70000000000002,&quot;width&quot;:400.45}"/>
</p:tagLst>
</file>

<file path=ppt/tags/tag24.xml><?xml version="1.0" encoding="utf-8"?>
<p:tagLst xmlns:p="http://schemas.openxmlformats.org/presentationml/2006/main">
  <p:tag name="KSO_WM_DIAGRAM_VIRTUALLY_FRAME" val="{&quot;height&quot;:411.0159845039583,&quot;left&quot;:34.6,&quot;top&quot;:113.70000000000002,&quot;width&quot;:400.45}"/>
</p:tagLst>
</file>

<file path=ppt/tags/tag25.xml><?xml version="1.0" encoding="utf-8"?>
<p:tagLst xmlns:p="http://schemas.openxmlformats.org/presentationml/2006/main">
  <p:tag name="KSO_WM_DIAGRAM_VIRTUALLY_FRAME" val="{&quot;height&quot;:411.0159845039583,&quot;left&quot;:34.6,&quot;top&quot;:113.70000000000002,&quot;width&quot;:400.45}"/>
</p:tagLst>
</file>

<file path=ppt/tags/tag2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2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2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2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3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3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3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项标题"/>
</p:tagLst>
</file>

<file path=ppt/tags/tag3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 name="KSO_WM_UNIT_PRESET_TEXT" val=" "/>
</p:tagLst>
</file>

<file path=ppt/tags/tag3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35.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项标题"/>
</p:tagLst>
</file>

<file path=ppt/tags/tag3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 name="KSO_WM_UNIT_PRESET_TEXT" val=" "/>
</p:tagLst>
</file>

<file path=ppt/tags/tag37.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38.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9.xml><?xml version="1.0" encoding="utf-8"?>
<p:tagLst xmlns:p="http://schemas.openxmlformats.org/presentationml/2006/main">
  <p:tag name="COMMONDATA" val="eyJoZGlkIjoiMWE5M2Q3YTk2NzExM2ViYmM0ZjRmYzRhOWQ2NWVkYzYifQ=="/>
</p:tagLst>
</file>

<file path=ppt/theme/theme1.xml><?xml version="1.0" encoding="utf-8"?>
<a:theme xmlns:a="http://schemas.openxmlformats.org/drawingml/2006/main" name="Office 主题​​">
  <a:themeElements>
    <a:clrScheme name="自定义 252">
      <a:dk1>
        <a:srgbClr val="000000"/>
      </a:dk1>
      <a:lt1>
        <a:srgbClr val="FFFFFF"/>
      </a:lt1>
      <a:dk2>
        <a:srgbClr val="44546A"/>
      </a:dk2>
      <a:lt2>
        <a:srgbClr val="E7E6E6"/>
      </a:lt2>
      <a:accent1>
        <a:srgbClr val="00528E"/>
      </a:accent1>
      <a:accent2>
        <a:srgbClr val="9F2B24"/>
      </a:accent2>
      <a:accent3>
        <a:srgbClr val="9F2B24"/>
      </a:accent3>
      <a:accent4>
        <a:srgbClr val="9F2B24"/>
      </a:accent4>
      <a:accent5>
        <a:srgbClr val="9F2B24"/>
      </a:accent5>
      <a:accent6>
        <a:srgbClr val="9F2B24"/>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252">
    <a:dk1>
      <a:srgbClr val="000000"/>
    </a:dk1>
    <a:lt1>
      <a:srgbClr val="FFFFFF"/>
    </a:lt1>
    <a:dk2>
      <a:srgbClr val="44546A"/>
    </a:dk2>
    <a:lt2>
      <a:srgbClr val="E7E6E6"/>
    </a:lt2>
    <a:accent1>
      <a:srgbClr val="00528E"/>
    </a:accent1>
    <a:accent2>
      <a:srgbClr val="9F2B24"/>
    </a:accent2>
    <a:accent3>
      <a:srgbClr val="9F2B24"/>
    </a:accent3>
    <a:accent4>
      <a:srgbClr val="9F2B24"/>
    </a:accent4>
    <a:accent5>
      <a:srgbClr val="9F2B24"/>
    </a:accent5>
    <a:accent6>
      <a:srgbClr val="9F2B24"/>
    </a:accent6>
    <a:hlink>
      <a:srgbClr val="0563C1"/>
    </a:hlink>
    <a:folHlink>
      <a:srgbClr val="954F72"/>
    </a:folHlink>
  </a:clrScheme>
</a:themeOverride>
</file>

<file path=ppt/theme/themeOverride2.xml><?xml version="1.0" encoding="utf-8"?>
<a:themeOverride xmlns:a="http://schemas.openxmlformats.org/drawingml/2006/main">
  <a:clrScheme name="自定义 252">
    <a:dk1>
      <a:srgbClr val="000000"/>
    </a:dk1>
    <a:lt1>
      <a:srgbClr val="FFFFFF"/>
    </a:lt1>
    <a:dk2>
      <a:srgbClr val="44546A"/>
    </a:dk2>
    <a:lt2>
      <a:srgbClr val="E7E6E6"/>
    </a:lt2>
    <a:accent1>
      <a:srgbClr val="00528E"/>
    </a:accent1>
    <a:accent2>
      <a:srgbClr val="9F2B24"/>
    </a:accent2>
    <a:accent3>
      <a:srgbClr val="9F2B24"/>
    </a:accent3>
    <a:accent4>
      <a:srgbClr val="9F2B24"/>
    </a:accent4>
    <a:accent5>
      <a:srgbClr val="9F2B24"/>
    </a:accent5>
    <a:accent6>
      <a:srgbClr val="9F2B24"/>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1786</Words>
  <Application>WPS 演示</Application>
  <PresentationFormat>宽屏</PresentationFormat>
  <Paragraphs>163</Paragraphs>
  <Slides>15</Slides>
  <Notes>18</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15</vt:i4>
      </vt:variant>
    </vt:vector>
  </HeadingPairs>
  <TitlesOfParts>
    <vt:vector size="34" baseType="lpstr">
      <vt:lpstr>Arial</vt:lpstr>
      <vt:lpstr>宋体</vt:lpstr>
      <vt:lpstr>Wingdings</vt:lpstr>
      <vt:lpstr>字魂160号-檀宋</vt:lpstr>
      <vt:lpstr>字魂105号-简雅黑</vt:lpstr>
      <vt:lpstr>Times New Roman</vt:lpstr>
      <vt:lpstr>字魂59号-创粗黑</vt:lpstr>
      <vt:lpstr>华文行楷</vt:lpstr>
      <vt:lpstr>MiSans Normal</vt:lpstr>
      <vt:lpstr>OPPOSans B</vt:lpstr>
      <vt:lpstr>等线</vt:lpstr>
      <vt:lpstr>微软雅黑</vt:lpstr>
      <vt:lpstr>Arial Unicode MS</vt:lpstr>
      <vt:lpstr>等线 Light</vt:lpstr>
      <vt:lpstr>Calibri</vt:lpstr>
      <vt:lpstr>黑体</vt:lpstr>
      <vt:lpstr>DM Sans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qwww</dc:creator>
  <cp:lastModifiedBy>殷龙飞</cp:lastModifiedBy>
  <cp:revision>70</cp:revision>
  <dcterms:created xsi:type="dcterms:W3CDTF">2021-10-27T07:03:00Z</dcterms:created>
  <dcterms:modified xsi:type="dcterms:W3CDTF">2026-05-16T13:34:56Z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7892A7D897E249BEB6C4D860DF9D10B7_12</vt:lpwstr>
  </property>
  <property fmtid="{D5CDD505-2E9C-101B-9397-08002B2CF9AE}" pid="3" name="KSOProductBuildVer">
    <vt:lpwstr>2052-12.1.0.23542</vt:lpwstr>
  </property>
</Properties>
</file>