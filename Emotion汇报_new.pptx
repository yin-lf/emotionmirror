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9"/>
  </p:handoutMasterIdLst>
  <p:sldIdLst>
    <p:sldId id="261" r:id="rId3"/>
    <p:sldId id="259" r:id="rId4"/>
    <p:sldId id="326" r:id="rId6"/>
    <p:sldId id="307" r:id="rId7"/>
    <p:sldId id="329" r:id="rId8"/>
    <p:sldId id="313" r:id="rId9"/>
    <p:sldId id="330" r:id="rId10"/>
    <p:sldId id="315" r:id="rId11"/>
    <p:sldId id="337" r:id="rId12"/>
    <p:sldId id="338" r:id="rId13"/>
    <p:sldId id="339" r:id="rId14"/>
    <p:sldId id="333" r:id="rId15"/>
    <p:sldId id="334" r:id="rId16"/>
    <p:sldId id="335" r:id="rId17"/>
    <p:sldId id="336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彭玉凤" initials="彭玉凤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8E"/>
    <a:srgbClr val="9F2B24"/>
    <a:srgbClr val="C6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5" y="93"/>
      </p:cViewPr>
      <p:guideLst>
        <p:guide orient="horz" pos="22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commentAuthors" Target="commentAuthors.xml"/><Relationship Id="rId24" Type="http://schemas.openxmlformats.org/officeDocument/2006/relationships/tags" Target="tags/tag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0DF3E-4775-4BBF-85B2-ABB2E63BA2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D722E-A6CF-4162-8F4E-18ED06651A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CABC8C-DB41-4BAA-851A-AEFB1A401F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/>
          <p:cNvSpPr/>
          <p:nvPr userDrawn="1"/>
        </p:nvSpPr>
        <p:spPr>
          <a:xfrm>
            <a:off x="10116457" y="-8894"/>
            <a:ext cx="2091848" cy="4622169"/>
          </a:xfrm>
          <a:custGeom>
            <a:avLst/>
            <a:gdLst>
              <a:gd name="connsiteX0" fmla="*/ 336986 w 2091848"/>
              <a:gd name="connsiteY0" fmla="*/ 0 h 4622169"/>
              <a:gd name="connsiteX1" fmla="*/ 2091848 w 2091848"/>
              <a:gd name="connsiteY1" fmla="*/ 0 h 4622169"/>
              <a:gd name="connsiteX2" fmla="*/ 2091848 w 2091848"/>
              <a:gd name="connsiteY2" fmla="*/ 4622169 h 4622169"/>
              <a:gd name="connsiteX3" fmla="*/ 1846112 w 2091848"/>
              <a:gd name="connsiteY3" fmla="*/ 4622169 h 4622169"/>
              <a:gd name="connsiteX4" fmla="*/ 0 w 2091848"/>
              <a:gd name="connsiteY4" fmla="*/ 397389 h 4622169"/>
              <a:gd name="connsiteX5" fmla="*/ 0 w 2091848"/>
              <a:gd name="connsiteY5" fmla="*/ 370886 h 4622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1848" h="4622169">
                <a:moveTo>
                  <a:pt x="336986" y="0"/>
                </a:moveTo>
                <a:lnTo>
                  <a:pt x="2091848" y="0"/>
                </a:lnTo>
                <a:lnTo>
                  <a:pt x="2091848" y="4622169"/>
                </a:lnTo>
                <a:lnTo>
                  <a:pt x="1846112" y="4622169"/>
                </a:lnTo>
                <a:lnTo>
                  <a:pt x="0" y="397389"/>
                </a:lnTo>
                <a:lnTo>
                  <a:pt x="0" y="3708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1"/>
          <a:stretch>
            <a:fillRect/>
          </a:stretch>
        </p:blipFill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589639 h 6858000"/>
              <a:gd name="connsiteX3" fmla="*/ 3426542 w 6096000"/>
              <a:gd name="connsiteY3" fmla="*/ 6858000 h 6858000"/>
              <a:gd name="connsiteX4" fmla="*/ 0 w 6096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589639"/>
                </a:lnTo>
                <a:cubicBezTo>
                  <a:pt x="4621699" y="5589639"/>
                  <a:pt x="3426542" y="6157504"/>
                  <a:pt x="3426542" y="6858000"/>
                </a:cubicBez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 rot="4241583">
            <a:off x="-4746240" y="3086098"/>
            <a:ext cx="6172200" cy="6172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-50801" y="-28577"/>
            <a:ext cx="5885544" cy="6886577"/>
            <a:chOff x="-50801" y="-28577"/>
            <a:chExt cx="5885544" cy="6886577"/>
          </a:xfrm>
        </p:grpSpPr>
        <p:cxnSp>
          <p:nvCxnSpPr>
            <p:cNvPr id="4" name="直接连接符 3"/>
            <p:cNvCxnSpPr/>
            <p:nvPr userDrawn="1"/>
          </p:nvCxnSpPr>
          <p:spPr>
            <a:xfrm flipV="1">
              <a:off x="0" y="0"/>
              <a:ext cx="5834743" cy="2239303"/>
            </a:xfrm>
            <a:prstGeom prst="line">
              <a:avLst/>
            </a:prstGeom>
            <a:ln w="19050">
              <a:solidFill>
                <a:srgbClr val="C6C4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 userDrawn="1"/>
          </p:nvCxnSpPr>
          <p:spPr>
            <a:xfrm flipV="1">
              <a:off x="-1" y="-1"/>
              <a:ext cx="5834743" cy="2239303"/>
            </a:xfrm>
            <a:prstGeom prst="line">
              <a:avLst/>
            </a:prstGeom>
            <a:ln w="19050">
              <a:solidFill>
                <a:srgbClr val="C6C4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 flipV="1">
              <a:off x="-50801" y="-28577"/>
              <a:ext cx="5834743" cy="2239303"/>
            </a:xfrm>
            <a:prstGeom prst="line">
              <a:avLst/>
            </a:prstGeom>
            <a:ln w="19050">
              <a:solidFill>
                <a:srgbClr val="C6C4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/>
          </p:nvCxnSpPr>
          <p:spPr>
            <a:xfrm flipH="1" flipV="1">
              <a:off x="0" y="1169194"/>
              <a:ext cx="2047875" cy="5688806"/>
            </a:xfrm>
            <a:prstGeom prst="line">
              <a:avLst/>
            </a:prstGeom>
            <a:ln w="19050">
              <a:solidFill>
                <a:srgbClr val="C6C4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 flipH="1" flipV="1">
              <a:off x="-50800" y="1169194"/>
              <a:ext cx="2047875" cy="5688806"/>
            </a:xfrm>
            <a:prstGeom prst="line">
              <a:avLst/>
            </a:prstGeom>
            <a:ln w="19050">
              <a:solidFill>
                <a:srgbClr val="C6C4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连接符 28"/>
          <p:cNvCxnSpPr/>
          <p:nvPr userDrawn="1"/>
        </p:nvCxnSpPr>
        <p:spPr>
          <a:xfrm>
            <a:off x="9855200" y="-46698"/>
            <a:ext cx="2320495" cy="5514048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9791699" y="0"/>
            <a:ext cx="2400301" cy="5703686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flipV="1">
            <a:off x="6700838" y="4757739"/>
            <a:ext cx="5474857" cy="2100261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/>
        </p:nvCxnSpPr>
        <p:spPr>
          <a:xfrm flipV="1">
            <a:off x="6505595" y="4682132"/>
            <a:ext cx="5670100" cy="2175868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0052" y="226652"/>
            <a:ext cx="1611397" cy="4913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rot="4241583">
            <a:off x="-2554866" y="1776143"/>
            <a:ext cx="6084032" cy="6084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 flipV="1">
            <a:off x="-180504" y="-462096"/>
            <a:ext cx="5834743" cy="2239303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V="1">
            <a:off x="-180505" y="-462097"/>
            <a:ext cx="5834743" cy="2239303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V="1">
            <a:off x="-231305" y="-490673"/>
            <a:ext cx="5834743" cy="2239303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 flipH="1" flipV="1">
            <a:off x="2120263" y="-128664"/>
            <a:ext cx="2605626" cy="6986664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 flipH="1" flipV="1">
            <a:off x="2069463" y="-128664"/>
            <a:ext cx="2584456" cy="6986664"/>
          </a:xfrm>
          <a:prstGeom prst="line">
            <a:avLst/>
          </a:prstGeom>
          <a:ln w="19050">
            <a:solidFill>
              <a:srgbClr val="C6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3983" y="226652"/>
            <a:ext cx="1797462" cy="5480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3983" y="226652"/>
            <a:ext cx="1797462" cy="5480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AEAB0E-6675-4070-8304-E951D0AFD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6F0FC-222C-4A7A-8A84-D4789B0248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1221658" y="1023938"/>
            <a:ext cx="4874342" cy="2403988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096000" y="1023938"/>
            <a:ext cx="4874342" cy="2403988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split orient="vert"/>
      </p:transition>
    </mc:Choice>
    <mc:Fallback>
      <p:transition spd="slow" advTm="3000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6032-C9ED-49C0-A3DB-86393BC55B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0DF76-F88C-4EAD-AAA9-F5706B04E25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3983" y="226652"/>
            <a:ext cx="1797462" cy="5480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window dir="vert"/>
      </p:transition>
    </mc:Choice>
    <mc:Fallback>
      <p:transition spd="slow" advClick="0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6AF6-5D85-4AD2-B3D4-79C8979C95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8C5B-8CE6-4851-AF6C-DED5A7E7A1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themeOverride" Target="../theme/themeOverride1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hemeOverride" Target="../theme/themeOverride2.xml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image" Target="../media/image7.png"/><Relationship Id="rId8" Type="http://schemas.openxmlformats.org/officeDocument/2006/relationships/tags" Target="../tags/tag23.xml"/><Relationship Id="rId9" Type="http://schemas.openxmlformats.org/officeDocument/2006/relationships/image" Target="../media/image8.png"/><Relationship Id="rId10" Type="http://schemas.openxmlformats.org/officeDocument/2006/relationships/tags" Target="../tags/tag24.xml"/><Relationship Id="rId11" Type="http://schemas.openxmlformats.org/officeDocument/2006/relationships/image" Target="../media/image9.png"/><Relationship Id="rId12" Type="http://schemas.openxmlformats.org/officeDocument/2006/relationships/tags" Target="../tags/tag25.xml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Relationship Id="rId8" Type="http://schemas.openxmlformats.org/officeDocument/2006/relationships/tags" Target="../tags/tag33.xml"/><Relationship Id="rId9" Type="http://schemas.openxmlformats.org/officeDocument/2006/relationships/tags" Target="../tags/tag34.xml"/><Relationship Id="rId10" Type="http://schemas.openxmlformats.org/officeDocument/2006/relationships/tags" Target="../tags/tag35.xml"/><Relationship Id="rId11" Type="http://schemas.openxmlformats.org/officeDocument/2006/relationships/tags" Target="../tags/tag36.xml"/><Relationship Id="rId12" Type="http://schemas.openxmlformats.org/officeDocument/2006/relationships/tags" Target="../tags/tag37.xml"/><Relationship Id="rId13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80680" y="1106149"/>
            <a:ext cx="5326478" cy="533537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329690" y="3408680"/>
            <a:ext cx="6360160" cy="101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字魂160号-檀宋" panose="00000500000000000000" pitchFamily="2" charset="-122"/>
              <a:ea typeface="字魂160号-檀宋" panose="00000500000000000000" pitchFamily="2" charset="-122"/>
              <a:cs typeface="字魂105号-简雅黑" panose="00000500000000000000" pitchFamily="2" charset="-122"/>
              <a:sym typeface="字魂160号-檀宋" panose="00000500000000000000" pitchFamily="2" charset="-122"/>
            </a:endParaRPr>
          </a:p>
        </p:txBody>
      </p:sp>
      <p:sp>
        <p:nvSpPr>
          <p:cNvPr id="471" name="文本框 470"/>
          <p:cNvSpPr txBox="1"/>
          <p:nvPr/>
        </p:nvSpPr>
        <p:spPr>
          <a:xfrm>
            <a:off x="953135" y="2371725"/>
            <a:ext cx="933132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字魂160号-檀宋" panose="00000500000000000000" pitchFamily="2" charset="-122"/>
                <a:cs typeface="Times New Roman" panose="02020603050405020304" charset="0"/>
                <a:sym typeface="字魂160号-檀宋" panose="00000500000000000000" pitchFamily="2" charset="-122"/>
              </a:rPr>
              <a:t>Emotion Mirror</a:t>
            </a:r>
            <a:endParaRPr lang="en-US" altLang="zh-CN" sz="36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字魂160号-檀宋" panose="00000500000000000000" pitchFamily="2" charset="-122"/>
              <a:cs typeface="Times New Roman" panose="02020603050405020304" charset="0"/>
              <a:sym typeface="字魂160号-檀宋" panose="00000500000000000000" pitchFamily="2" charset="-122"/>
            </a:endParaRPr>
          </a:p>
          <a:p>
            <a:pPr algn="ctr"/>
            <a:endParaRPr lang="en-US" altLang="zh-CN" sz="36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字魂160号-檀宋" panose="00000500000000000000" pitchFamily="2" charset="-122"/>
              <a:cs typeface="Times New Roman" panose="02020603050405020304" charset="0"/>
              <a:sym typeface="字魂160号-檀宋" panose="00000500000000000000" pitchFamily="2" charset="-122"/>
            </a:endParaRPr>
          </a:p>
          <a:p>
            <a:pPr algn="ctr"/>
            <a:r>
              <a:rPr lang="zh-CN" altLang="en-US" sz="3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字魂160号-檀宋" panose="00000500000000000000" pitchFamily="2" charset="-122"/>
                <a:cs typeface="Times New Roman" panose="02020603050405020304" charset="0"/>
                <a:sym typeface="字魂160号-檀宋" panose="00000500000000000000" pitchFamily="2" charset="-122"/>
              </a:rPr>
              <a:t>基于多模态情感识别</a:t>
            </a:r>
            <a:r>
              <a:rPr lang="en-US" altLang="zh-CN" sz="3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字魂160号-檀宋" panose="00000500000000000000" pitchFamily="2" charset="-122"/>
                <a:cs typeface="Times New Roman" panose="02020603050405020304" charset="0"/>
                <a:sym typeface="字魂160号-檀宋" panose="00000500000000000000" pitchFamily="2" charset="-122"/>
              </a:rPr>
              <a:t>&amp;</a:t>
            </a:r>
            <a:r>
              <a:rPr lang="zh-CN" altLang="en-US" sz="3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字魂160号-檀宋" panose="00000500000000000000" pitchFamily="2" charset="-122"/>
                <a:cs typeface="Times New Roman" panose="02020603050405020304" charset="0"/>
                <a:sym typeface="字魂160号-檀宋" panose="00000500000000000000" pitchFamily="2" charset="-122"/>
              </a:rPr>
              <a:t>表情合成的数字桌宠</a:t>
            </a:r>
            <a:endParaRPr lang="zh-CN" altLang="en-US" sz="3600" i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ea typeface="字魂160号-檀宋" panose="00000500000000000000" pitchFamily="2" charset="-122"/>
              <a:cs typeface="Times New Roman" panose="02020603050405020304" charset="0"/>
              <a:sym typeface="字魂160号-檀宋" panose="00000500000000000000" pitchFamily="2" charset="-122"/>
            </a:endParaRPr>
          </a:p>
        </p:txBody>
      </p:sp>
      <p:pic>
        <p:nvPicPr>
          <p:cNvPr id="477" name="图片 47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38" y="273414"/>
            <a:ext cx="1171575" cy="329471"/>
          </a:xfrm>
          <a:prstGeom prst="rect">
            <a:avLst/>
          </a:prstGeom>
        </p:spPr>
      </p:pic>
      <p:grpSp>
        <p:nvGrpSpPr>
          <p:cNvPr id="493" name="组合 492"/>
          <p:cNvGrpSpPr/>
          <p:nvPr/>
        </p:nvGrpSpPr>
        <p:grpSpPr>
          <a:xfrm>
            <a:off x="10559867" y="424718"/>
            <a:ext cx="883015" cy="178167"/>
            <a:chOff x="9893117" y="424718"/>
            <a:chExt cx="883015" cy="178167"/>
          </a:xfrm>
        </p:grpSpPr>
        <p:sp>
          <p:nvSpPr>
            <p:cNvPr id="490" name="椭圆 489"/>
            <p:cNvSpPr/>
            <p:nvPr/>
          </p:nvSpPr>
          <p:spPr>
            <a:xfrm>
              <a:off x="9893117" y="424720"/>
              <a:ext cx="178165" cy="1781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  <p:sp>
          <p:nvSpPr>
            <p:cNvPr id="491" name="椭圆 490"/>
            <p:cNvSpPr/>
            <p:nvPr/>
          </p:nvSpPr>
          <p:spPr>
            <a:xfrm>
              <a:off x="10245542" y="424719"/>
              <a:ext cx="178165" cy="1781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  <p:sp>
          <p:nvSpPr>
            <p:cNvPr id="492" name="椭圆 491"/>
            <p:cNvSpPr/>
            <p:nvPr/>
          </p:nvSpPr>
          <p:spPr>
            <a:xfrm>
              <a:off x="10597967" y="424718"/>
              <a:ext cx="178165" cy="1781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219440" y="5699760"/>
            <a:ext cx="1581150" cy="441960"/>
            <a:chOff x="1203959" y="4343400"/>
            <a:chExt cx="6043295" cy="441960"/>
          </a:xfrm>
        </p:grpSpPr>
        <p:sp>
          <p:nvSpPr>
            <p:cNvPr id="23" name="矩形: 圆角 22"/>
            <p:cNvSpPr/>
            <p:nvPr/>
          </p:nvSpPr>
          <p:spPr>
            <a:xfrm>
              <a:off x="1203959" y="4343400"/>
              <a:ext cx="6043295" cy="4419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E5BEA"/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57220" y="4405630"/>
              <a:ext cx="552791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400" dirty="0">
                  <a:solidFill>
                    <a:schemeClr val="bg1"/>
                  </a:solidFill>
                  <a:latin typeface="字魂160号-檀宋" panose="00000500000000000000" pitchFamily="2" charset="-122"/>
                  <a:ea typeface="字魂160号-檀宋" panose="00000500000000000000" pitchFamily="2" charset="-122"/>
                  <a:sym typeface="字魂160号-檀宋" panose="00000500000000000000" pitchFamily="2" charset="-122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latin typeface="字魂160号-檀宋" panose="00000500000000000000" pitchFamily="2" charset="-122"/>
                  <a:ea typeface="字魂160号-檀宋" panose="00000500000000000000" pitchFamily="2" charset="-122"/>
                  <a:sym typeface="字魂160号-檀宋" panose="00000500000000000000" pitchFamily="2" charset="-122"/>
                </a:rPr>
                <a:t>组长</a:t>
              </a:r>
              <a:r>
                <a:rPr lang="zh-CN" altLang="en-US" sz="1400" dirty="0">
                  <a:solidFill>
                    <a:schemeClr val="bg1"/>
                  </a:solidFill>
                  <a:latin typeface="字魂160号-檀宋" panose="00000500000000000000" pitchFamily="2" charset="-122"/>
                  <a:ea typeface="字魂160号-檀宋" panose="00000500000000000000" pitchFamily="2" charset="-122"/>
                  <a:sym typeface="字魂160号-檀宋" panose="00000500000000000000" pitchFamily="2" charset="-122"/>
                </a:rPr>
                <a:t>：殷龙飞</a:t>
              </a:r>
              <a:endParaRPr lang="zh-CN" altLang="en-US" sz="1400" dirty="0">
                <a:solidFill>
                  <a:schemeClr val="bg1"/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619039" y="939336"/>
            <a:ext cx="517962" cy="4571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chemeClr val="bg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0" algn="ctr" rotWithShape="0">
                  <a:prstClr val="black">
                    <a:alpha val="25000"/>
                  </a:prstClr>
                </a:outerShdw>
              </a:effectLst>
              <a:latin typeface="字魂160号-檀宋" panose="00000500000000000000" pitchFamily="2" charset="-122"/>
              <a:ea typeface="字魂160号-檀宋" panose="00000500000000000000" pitchFamily="2" charset="-122"/>
              <a:cs typeface="字魂59号-创粗黑" panose="00000500000000000000" charset="-122"/>
              <a:sym typeface="字魂160号-檀宋" panose="000005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30393" y="295678"/>
            <a:ext cx="1060425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cs typeface="字魂59号-创粗黑" panose="00000500000000000000" charset="-122"/>
                <a:sym typeface="字魂160号-檀宋" panose="00000500000000000000" pitchFamily="2" charset="-122"/>
              </a:rPr>
              <a:t>HEY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字魂160号-檀宋" panose="00000500000000000000" pitchFamily="2" charset="-122"/>
              <a:ea typeface="字魂160号-檀宋" panose="00000500000000000000" pitchFamily="2" charset="-122"/>
              <a:cs typeface="字魂59号-创粗黑" panose="00000500000000000000" charset="-122"/>
              <a:sym typeface="字魂160号-檀宋" panose="000005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cs typeface="字魂59号-创粗黑" panose="00000500000000000000" charset="-122"/>
                <a:sym typeface="字魂160号-檀宋" panose="00000500000000000000" pitchFamily="2" charset="-122"/>
              </a:rPr>
              <a:t>WAKE UP!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160号-檀宋" panose="00000500000000000000" pitchFamily="2" charset="-122"/>
              <a:ea typeface="字魂160号-檀宋" panose="00000500000000000000" pitchFamily="2" charset="-122"/>
              <a:cs typeface="字魂59号-创粗黑" panose="00000500000000000000" charset="-122"/>
              <a:sym typeface="字魂160号-檀宋" panose="00000500000000000000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219440" y="6301105"/>
            <a:ext cx="3848100" cy="441960"/>
            <a:chOff x="1203959" y="4343400"/>
            <a:chExt cx="6043295" cy="441960"/>
          </a:xfrm>
        </p:grpSpPr>
        <p:sp>
          <p:nvSpPr>
            <p:cNvPr id="8" name="矩形: 圆角 22"/>
            <p:cNvSpPr/>
            <p:nvPr/>
          </p:nvSpPr>
          <p:spPr>
            <a:xfrm>
              <a:off x="1203959" y="4343400"/>
              <a:ext cx="6043295" cy="4419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E5BEA"/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57220" y="4405630"/>
              <a:ext cx="552791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chemeClr val="bg1"/>
                  </a:solidFill>
                  <a:latin typeface="字魂160号-檀宋" panose="00000500000000000000" pitchFamily="2" charset="-122"/>
                  <a:ea typeface="字魂160号-檀宋" panose="00000500000000000000" pitchFamily="2" charset="-122"/>
                  <a:sym typeface="字魂160号-檀宋" panose="00000500000000000000" pitchFamily="2" charset="-122"/>
                </a:rPr>
                <a:t>成员：刘林瑜、姬凯宁、王宇石、刘馨箔</a:t>
              </a:r>
              <a:endParaRPr lang="zh-CN" altLang="en-US" sz="1400" dirty="0">
                <a:solidFill>
                  <a:schemeClr val="bg1"/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sym typeface="字魂160号-檀宋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" grpId="0"/>
      <p:bldP spid="26" grpId="0" bldLvl="0" animBg="1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>
            <p:custDataLst>
              <p:tags r:id="rId1"/>
            </p:custDataLst>
          </p:nvPr>
        </p:nvGrpSpPr>
        <p:grpSpPr>
          <a:xfrm>
            <a:off x="869171" y="961936"/>
            <a:ext cx="9325621" cy="4083935"/>
            <a:chOff x="1003925" y="971461"/>
            <a:chExt cx="7219661" cy="4083935"/>
          </a:xfrm>
        </p:grpSpPr>
        <p:sp>
          <p:nvSpPr>
            <p:cNvPr id="20" name="îšľíḍe"/>
            <p:cNvSpPr/>
            <p:nvPr/>
          </p:nvSpPr>
          <p:spPr>
            <a:xfrm>
              <a:off x="1003925" y="971461"/>
              <a:ext cx="3185487" cy="923330"/>
            </a:xfrm>
            <a:prstGeom prst="rect">
              <a:avLst/>
            </a:prstGeom>
          </p:spPr>
          <p:txBody>
            <a:bodyPr wrap="square" lIns="91440" tIns="45720" rIns="91440" bIns="45720">
              <a:normAutofit/>
            </a:bodyPr>
            <a:lstStyle/>
            <a:p>
              <a:r>
                <a:rPr lang="zh-CN" altLang="en-US" sz="5400" b="1" dirty="0">
                  <a:solidFill>
                    <a:schemeClr val="accent1"/>
                  </a:solidFill>
                  <a:latin typeface="字魂160号-檀宋" panose="00000500000000000000" pitchFamily="2" charset="-122"/>
                  <a:ea typeface="字魂160号-檀宋" panose="00000500000000000000" pitchFamily="2" charset="-122"/>
                  <a:cs typeface="+mn-ea"/>
                  <a:sym typeface="字魂160号-檀宋" panose="00000500000000000000" pitchFamily="2" charset="-122"/>
                </a:rPr>
                <a:t>Contents</a:t>
              </a:r>
              <a:endParaRPr lang="zh-CN" altLang="en-US" sz="5400" b="1" dirty="0">
                <a:solidFill>
                  <a:schemeClr val="accent1"/>
                </a:solidFill>
                <a:latin typeface="字魂160号-檀宋" panose="00000500000000000000" pitchFamily="2" charset="-122"/>
                <a:ea typeface="字魂160号-檀宋" panose="00000500000000000000" pitchFamily="2" charset="-122"/>
                <a:cs typeface="+mn-ea"/>
                <a:sym typeface="字魂160号-檀宋" panose="00000500000000000000" pitchFamily="2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003926" y="2253139"/>
              <a:ext cx="7219660" cy="2802257"/>
              <a:chOff x="1003925" y="2633545"/>
              <a:chExt cx="7219660" cy="2802257"/>
            </a:xfrm>
          </p:grpSpPr>
          <p:cxnSp>
            <p:nvCxnSpPr>
              <p:cNvPr id="17" name="直接连接符 16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003925" y="5373775"/>
                <a:ext cx="2583636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5241414" y="5373775"/>
                <a:ext cx="2583636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003925" y="3587181"/>
                <a:ext cx="2583636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5241414" y="3587181"/>
                <a:ext cx="2583636" cy="0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组合 34"/>
              <p:cNvGrpSpPr/>
              <p:nvPr/>
            </p:nvGrpSpPr>
            <p:grpSpPr>
              <a:xfrm>
                <a:off x="1003925" y="2633545"/>
                <a:ext cx="7219660" cy="2802257"/>
                <a:chOff x="1003925" y="2633545"/>
                <a:chExt cx="7219660" cy="2802257"/>
              </a:xfrm>
            </p:grpSpPr>
            <p:sp>
              <p:nvSpPr>
                <p:cNvPr id="16" name="îṥḻîḓê"/>
                <p:cNvSpPr txBox="1"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2945426" y="4420139"/>
                  <a:ext cx="1040670" cy="1015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4800" b="1" i="1" dirty="0">
                      <a:solidFill>
                        <a:schemeClr val="accent1"/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+mn-ea"/>
                      <a:sym typeface="字魂160号-檀宋" panose="00000500000000000000" pitchFamily="2" charset="-122"/>
                    </a:rPr>
                    <a:t>03</a:t>
                  </a:r>
                  <a:endParaRPr lang="en-US" altLang="zh-CN" sz="4800" b="1" i="1" dirty="0">
                    <a:solidFill>
                      <a:schemeClr val="accent1"/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+mn-ea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19" name="íş1íḋê"/>
                <p:cNvSpPr txBox="1"/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1003925" y="4889871"/>
                  <a:ext cx="2583636" cy="4458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字魂105号-简雅黑" panose="00000500000000000000" pitchFamily="2" charset="-122"/>
                      <a:sym typeface="字魂160号-檀宋" panose="00000500000000000000" pitchFamily="2" charset="-122"/>
                    </a:rPr>
                    <a:t>技术路线与方法</a:t>
                  </a:r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  <a:p>
                  <a:pPr algn="l">
                    <a:buClrTx/>
                    <a:buSzTx/>
                    <a:buFontTx/>
                  </a:pPr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12" name="îSlídè"/>
                <p:cNvSpPr txBox="1"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7182915" y="4420139"/>
                  <a:ext cx="1040670" cy="1015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4800" b="1" i="1" dirty="0">
                      <a:solidFill>
                        <a:schemeClr val="accent1"/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+mn-ea"/>
                      <a:sym typeface="字魂160号-檀宋" panose="00000500000000000000" pitchFamily="2" charset="-122"/>
                    </a:rPr>
                    <a:t>04</a:t>
                  </a:r>
                  <a:endParaRPr lang="en-US" altLang="zh-CN" sz="4800" b="1" i="1" dirty="0">
                    <a:solidFill>
                      <a:schemeClr val="accent1"/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+mn-ea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15" name="îş1îďè"/>
                <p:cNvSpPr txBox="1"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5241414" y="4889871"/>
                  <a:ext cx="2583636" cy="4458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en-US" altLang="zh-CN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字魂105号-简雅黑" panose="00000500000000000000" pitchFamily="2" charset="-122"/>
                      <a:sym typeface="字魂160号-檀宋" panose="00000500000000000000" pitchFamily="2" charset="-122"/>
                    </a:rPr>
                    <a:t>demo</a:t>
                  </a:r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字魂105号-简雅黑" panose="00000500000000000000" pitchFamily="2" charset="-122"/>
                      <a:sym typeface="字魂160号-檀宋" panose="00000500000000000000" pitchFamily="2" charset="-122"/>
                    </a:rPr>
                    <a:t>展示</a:t>
                  </a:r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  <a:p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30" name="îṥḻîḓê"/>
                <p:cNvSpPr txBox="1"/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2945426" y="2633545"/>
                  <a:ext cx="1040670" cy="1015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4800" b="1" i="1" dirty="0">
                      <a:solidFill>
                        <a:schemeClr val="accent1"/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+mn-ea"/>
                      <a:sym typeface="字魂160号-檀宋" panose="00000500000000000000" pitchFamily="2" charset="-122"/>
                    </a:rPr>
                    <a:t>01</a:t>
                  </a:r>
                  <a:endParaRPr lang="en-US" altLang="zh-CN" sz="4800" b="1" i="1" dirty="0">
                    <a:solidFill>
                      <a:schemeClr val="accent1"/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+mn-ea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33" name="íş1íḋê"/>
                <p:cNvSpPr txBox="1"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1003925" y="3103277"/>
                  <a:ext cx="2583636" cy="4458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字魂105号-简雅黑" panose="00000500000000000000" pitchFamily="2" charset="-122"/>
                      <a:sym typeface="字魂160号-檀宋" panose="00000500000000000000" pitchFamily="2" charset="-122"/>
                    </a:rPr>
                    <a:t>项目背景与现实意义</a:t>
                  </a:r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26" name="îSlídè"/>
                <p:cNvSpPr txBox="1"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7182915" y="2633545"/>
                  <a:ext cx="1040670" cy="1015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4800" b="1" i="1" dirty="0">
                      <a:solidFill>
                        <a:schemeClr val="accent1"/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+mn-ea"/>
                      <a:sym typeface="字魂160号-檀宋" panose="00000500000000000000" pitchFamily="2" charset="-122"/>
                    </a:rPr>
                    <a:t>02</a:t>
                  </a:r>
                  <a:endParaRPr lang="en-US" altLang="zh-CN" sz="4800" b="1" i="1" dirty="0">
                    <a:solidFill>
                      <a:schemeClr val="accent1"/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+mn-ea"/>
                    <a:sym typeface="字魂160号-檀宋" panose="00000500000000000000" pitchFamily="2" charset="-122"/>
                  </a:endParaRPr>
                </a:p>
              </p:txBody>
            </p:sp>
            <p:sp>
              <p:nvSpPr>
                <p:cNvPr id="29" name="îş1îďè"/>
                <p:cNvSpPr txBox="1"/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241414" y="3103277"/>
                  <a:ext cx="2583636" cy="4458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20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字魂160号-檀宋" panose="00000500000000000000" pitchFamily="2" charset="-122"/>
                      <a:ea typeface="字魂160号-檀宋" panose="00000500000000000000" pitchFamily="2" charset="-122"/>
                      <a:cs typeface="字魂105号-简雅黑" panose="00000500000000000000" pitchFamily="2" charset="-122"/>
                      <a:sym typeface="字魂160号-檀宋" panose="00000500000000000000" pitchFamily="2" charset="-122"/>
                    </a:rPr>
                    <a:t>项目创新点</a:t>
                  </a:r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  <a:p>
                  <a:endParaRPr lang="zh-CN" alt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60号-檀宋" panose="00000500000000000000" pitchFamily="2" charset="-122"/>
                    <a:ea typeface="字魂160号-檀宋" panose="00000500000000000000" pitchFamily="2" charset="-122"/>
                    <a:cs typeface="字魂105号-简雅黑" panose="00000500000000000000" pitchFamily="2" charset="-122"/>
                    <a:sym typeface="字魂160号-檀宋" panose="00000500000000000000" pitchFamily="2" charset="-122"/>
                  </a:endParaRPr>
                </a:p>
              </p:txBody>
            </p:sp>
          </p:grpSp>
        </p:grpSp>
      </p:grpSp>
      <p:grpSp>
        <p:nvGrpSpPr>
          <p:cNvPr id="43" name="组合 42"/>
          <p:cNvGrpSpPr/>
          <p:nvPr/>
        </p:nvGrpSpPr>
        <p:grpSpPr>
          <a:xfrm>
            <a:off x="11396656" y="-1"/>
            <a:ext cx="211068" cy="2079058"/>
            <a:chOff x="11396656" y="-1"/>
            <a:chExt cx="211068" cy="2079058"/>
          </a:xfrm>
          <a:solidFill>
            <a:schemeClr val="accent1"/>
          </a:solidFill>
        </p:grpSpPr>
        <p:sp>
          <p:nvSpPr>
            <p:cNvPr id="41" name="矩形 40"/>
            <p:cNvSpPr/>
            <p:nvPr/>
          </p:nvSpPr>
          <p:spPr>
            <a:xfrm>
              <a:off x="11396656" y="0"/>
              <a:ext cx="86284" cy="2079057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60号-檀宋" panose="00000500000000000000" pitchFamily="2" charset="-122"/>
                <a:ea typeface="字魂160号-檀宋" panose="00000500000000000000" pitchFamily="2" charset="-122"/>
                <a:cs typeface="+mn-ea"/>
                <a:sym typeface="字魂160号-檀宋" panose="00000500000000000000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1521440" y="-1"/>
              <a:ext cx="86284" cy="2079057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60号-檀宋" panose="00000500000000000000" pitchFamily="2" charset="-122"/>
                <a:ea typeface="字魂160号-檀宋" panose="00000500000000000000" pitchFamily="2" charset="-122"/>
                <a:cs typeface="+mn-ea"/>
                <a:sym typeface="字魂160号-檀宋" panose="00000500000000000000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0" y="6460099"/>
            <a:ext cx="1344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实事求是</a:t>
            </a:r>
            <a:endParaRPr lang="zh-CN" altLang="en-US" dirty="0">
              <a:solidFill>
                <a:schemeClr val="accent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项目背景与现实意义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1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Research background and significance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1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1995" y="412750"/>
            <a:ext cx="3230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研究背景与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现实意义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3" name="文本框 2"/>
          <p:cNvSpPr txBox="1"/>
          <p:nvPr/>
        </p:nvSpPr>
        <p:spPr>
          <a:xfrm>
            <a:off x="439420" y="1951355"/>
            <a:ext cx="10422255" cy="15684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ts val="400"/>
              </a:spcAft>
              <a:defRPr sz="1100" b="1">
                <a:latin typeface="Microsoft YaHei"/>
              </a:defRPr>
            </a:pPr>
            <a:r>
              <a:t>Motivation：</a:t>
            </a:r>
            <a:endParaRPr lang="zh-CN" altLang="en-US" sz="1600" b="1"/>
          </a:p>
          <a:p>
            <a:pPr indent="457200"/>
            <a:r>
              <a:rPr lang="zh-CN" altLang="en-US" sz="1600"/>
              <a:t>随着人机交互技术的快速发展，计算机不再仅仅是工具，更逐步承担起</a:t>
            </a:r>
            <a:r>
              <a:rPr lang="en-US" altLang="zh-CN" sz="1600"/>
              <a:t>“</a:t>
            </a:r>
            <a:r>
              <a:rPr lang="zh-CN" altLang="en-US" sz="1600"/>
              <a:t>数字伙伴</a:t>
            </a:r>
            <a:r>
              <a:rPr lang="en-US" altLang="zh-CN" sz="1600"/>
              <a:t>”</a:t>
            </a:r>
            <a:r>
              <a:rPr lang="zh-CN" altLang="en-US" sz="1600"/>
              <a:t>的角色。然而，当前大多数人机交互系统缺乏对用户情绪状态的感知能力，导致交互过程机械、冰冷，难以建立情感层面的连接。</a:t>
            </a:r>
            <a:r>
              <a:rPr lang="zh-CN" altLang="en-US" sz="1600">
                <a:sym typeface="+mn-ea"/>
              </a:rPr>
              <a:t>随着虚拟数字人、</a:t>
            </a:r>
            <a:r>
              <a:rPr lang="en-US" altLang="zh-CN" sz="1600">
                <a:sym typeface="+mn-ea"/>
              </a:rPr>
              <a:t>AIGC </a:t>
            </a:r>
            <a:r>
              <a:rPr lang="zh-CN" altLang="en-US" sz="1600">
                <a:sym typeface="+mn-ea"/>
              </a:rPr>
              <a:t>与智能陪伴系统的发展，用户对于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具有情感反馈能力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 AI </a:t>
            </a:r>
            <a:r>
              <a:rPr lang="zh-CN" altLang="en-US" sz="1600">
                <a:sym typeface="+mn-ea"/>
              </a:rPr>
              <a:t>需求快速提升。</a:t>
            </a:r>
            <a:endParaRPr lang="zh-CN" altLang="en-US" sz="1600"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39420" y="3752850"/>
            <a:ext cx="10422890" cy="10763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ts val="400"/>
              </a:spcAft>
              <a:defRPr sz="1100" b="1">
                <a:latin typeface="Microsoft YaHei"/>
              </a:defRPr>
            </a:pPr>
            <a:r>
              <a:t>This Work Proposes a EmotionMirror：</a:t>
            </a:r>
            <a:endParaRPr lang="zh-CN" altLang="en-US" sz="1600" b="1">
              <a:sym typeface="+mn-ea"/>
            </a:endParaRPr>
          </a:p>
          <a:p>
            <a:pPr indent="457200"/>
            <a:r>
              <a:rPr lang="zh-CN" altLang="en-US" sz="1600"/>
              <a:t>这是一个开箱即用的端到端多模态情绪感知数字分身系统。用户通过文本或语音输入情绪内容，系统自动完成情绪识别、情绪向量生成、个性化表情驱动全流程，最终输出带有</a:t>
            </a:r>
            <a:r>
              <a:rPr lang="en-US" altLang="zh-CN" sz="1600"/>
              <a:t>3D</a:t>
            </a:r>
            <a:r>
              <a:rPr lang="zh-CN" altLang="en-US" sz="1600"/>
              <a:t>微动效果的数字人情绪镜像，并且可以在桌面进行</a:t>
            </a:r>
            <a:r>
              <a:rPr lang="zh-CN" altLang="en-US" sz="1600"/>
              <a:t>操作。整个链路无需手动调参，上传一张照片即可获得千人千面的情绪化数字分身。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项目创新点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2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Project innovation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2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72795" y="412750"/>
            <a:ext cx="2076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项目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创新性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3" name="文本框 2"/>
          <p:cNvSpPr txBox="1"/>
          <p:nvPr/>
        </p:nvSpPr>
        <p:spPr>
          <a:xfrm>
            <a:off x="439420" y="1621790"/>
            <a:ext cx="10422255" cy="42767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ts val="400"/>
              </a:spcAft>
              <a:defRPr sz="1100" b="1">
                <a:latin typeface="Microsoft YaHei"/>
              </a:defRPr>
            </a:pPr>
            <a:r>
              <a:t>模态统一情绪向量表示：</a:t>
            </a:r>
            <a:endParaRPr lang="zh-CN" altLang="en-US" sz="1600" b="1"/>
          </a:p>
          <a:p>
            <a:pPr indent="457200"/>
            <a:r>
              <a:rPr lang="zh-CN" altLang="en-US" sz="1600">
                <a:sym typeface="+mn-ea"/>
              </a:rPr>
              <a:t>支持文本和语音两种异构输入模态，分别通过规则驱动引擎和 LSTM 模型进行情绪识别，两种模态的输出统一映射为 V-A-D 三维情绪向量+ 8 类中文情绪标签，在同一向量空间中实现标准化情绪表示，为后续扩展更多模态提供即插即用的接口规范。</a:t>
            </a:r>
            <a:endParaRPr lang="zh-CN" altLang="en-US" sz="1600">
              <a:sym typeface="+mn-ea"/>
            </a:endParaRPr>
          </a:p>
          <a:p>
            <a:pPr indent="457200"/>
            <a:endParaRPr lang="zh-CN" altLang="en-US" sz="16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600" b="1">
                <a:sym typeface="+mn-ea"/>
              </a:rPr>
              <a:t>个性化数字分身定制：</a:t>
            </a:r>
            <a:endParaRPr lang="zh-CN" altLang="en-US" sz="1600" b="1"/>
          </a:p>
          <a:p>
            <a:pPr indent="457200"/>
            <a:r>
              <a:rPr lang="zh-CN" altLang="en-US" sz="1600">
                <a:sym typeface="+mn-ea"/>
              </a:rPr>
              <a:t>用户可上传任意个人照片（自拍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二次元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卡通），系统通过</a:t>
            </a:r>
            <a:r>
              <a:rPr lang="en-US" altLang="zh-CN" sz="1600">
                <a:sym typeface="+mn-ea"/>
              </a:rPr>
              <a:t>rembg</a:t>
            </a:r>
            <a:r>
              <a:rPr lang="zh-CN" altLang="en-US" sz="1600">
                <a:sym typeface="+mn-ea"/>
              </a:rPr>
              <a:t>自动去除背景、</a:t>
            </a:r>
            <a:r>
              <a:rPr lang="en-US" altLang="zh-CN" sz="1600">
                <a:sym typeface="+mn-ea"/>
              </a:rPr>
              <a:t>LivePortrait</a:t>
            </a:r>
            <a:r>
              <a:rPr lang="zh-CN" altLang="en-US" sz="1600">
                <a:sym typeface="+mn-ea"/>
              </a:rPr>
              <a:t>提取人脸特征并重定向表情，实现千人千面的情绪化数字分身，突破了预设表情素材库的局限性。</a:t>
            </a:r>
            <a:endParaRPr lang="zh-CN" altLang="en-US" sz="1600">
              <a:sym typeface="+mn-ea"/>
            </a:endParaRPr>
          </a:p>
          <a:p>
            <a:pPr indent="457200"/>
            <a:endParaRPr lang="zh-CN" altLang="en-US" sz="16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600" b="1">
                <a:sym typeface="+mn-ea"/>
              </a:rPr>
              <a:t>端到端的数字人情绪表示系统：</a:t>
            </a:r>
            <a:endParaRPr lang="zh-CN" altLang="en-US" sz="1600" b="1"/>
          </a:p>
          <a:p>
            <a:pPr indent="457200"/>
            <a:r>
              <a:rPr lang="zh-CN" altLang="en-US" sz="1600">
                <a:sym typeface="+mn-ea"/>
              </a:rPr>
              <a:t>区别于传统情感分析系统仅输出分类标签的做法，本作品将情绪识别结果直接映射为</a:t>
            </a:r>
            <a:r>
              <a:rPr lang="en-US" altLang="zh-CN" sz="1600">
                <a:sym typeface="+mn-ea"/>
              </a:rPr>
              <a:t> LivePortrait </a:t>
            </a:r>
            <a:r>
              <a:rPr lang="zh-CN" altLang="en-US" sz="1600">
                <a:sym typeface="+mn-ea"/>
              </a:rPr>
              <a:t>面部动作参数（微笑、眉毛、眼球方向、唇部变化等），基于用户上传的个人照片生成个性化的表情动画</a:t>
            </a:r>
            <a:r>
              <a:rPr lang="en-US" altLang="zh-CN" sz="1600">
                <a:sym typeface="+mn-ea"/>
              </a:rPr>
              <a:t> GIF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pPr indent="457200"/>
            <a:endParaRPr lang="zh-CN" altLang="en-US" sz="1600"/>
          </a:p>
          <a:p>
            <a:pPr algn="l">
              <a:buClrTx/>
              <a:buSzTx/>
              <a:buFontTx/>
            </a:pPr>
            <a:r>
              <a:rPr lang="zh-CN" altLang="en-US" sz="1600" b="1">
                <a:sym typeface="+mn-ea"/>
              </a:rPr>
              <a:t>便携的桌宠交互</a:t>
            </a:r>
            <a:r>
              <a:rPr lang="zh-CN" altLang="en-US" sz="1600" b="1">
                <a:sym typeface="+mn-ea"/>
              </a:rPr>
              <a:t>系统：</a:t>
            </a:r>
            <a:endParaRPr lang="zh-CN" alt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技术路线与方法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3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Technical route and method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3.1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4255" y="413385"/>
            <a:ext cx="1812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overview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pic>
        <p:nvPicPr>
          <p:cNvPr id="2" name="图片 1" descr="c4aa28ef-bc04-4af1-9a54-5ba36721056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025" y="1216025"/>
            <a:ext cx="8308975" cy="5539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3.2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4255" y="413385"/>
            <a:ext cx="2498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文本情感识别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子模块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39420" y="1443990"/>
            <a:ext cx="5085715" cy="4912563"/>
            <a:chOff x="900" y="3405"/>
            <a:chExt cx="8009" cy="6470"/>
          </a:xfrm>
        </p:grpSpPr>
        <p:sp>
          <p:nvSpPr>
            <p:cNvPr id="90" name="Google Shape;90;p13"/>
            <p:cNvSpPr txBox="1"/>
            <p:nvPr/>
          </p:nvSpPr>
          <p:spPr>
            <a:xfrm>
              <a:off x="1080" y="3405"/>
              <a:ext cx="7829" cy="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核心逻辑实现</a:t>
              </a:r>
              <a:endPara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900" y="3405"/>
              <a:ext cx="75" cy="480"/>
            </a:xfrm>
            <a:prstGeom prst="rect">
              <a:avLst/>
            </a:prstGeom>
            <a:solidFill>
              <a:srgbClr val="0052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" name="Google Shape;92;p13"/>
            <p:cNvSpPr txBox="1"/>
            <p:nvPr>
              <p:custDataLst>
                <p:tags r:id="rId2"/>
              </p:custDataLst>
            </p:nvPr>
          </p:nvSpPr>
          <p:spPr>
            <a:xfrm>
              <a:off x="1425" y="4125"/>
              <a:ext cx="7111" cy="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algn="l" rtl="0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zh-CN" altLang="en-US" sz="1600" b="1" i="0" u="none" strike="noStrike" cap="none" dirty="0">
                  <a:solidFill>
                    <a:srgbClr val="00528E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基于规则的情感增强引擎</a:t>
              </a:r>
              <a:r>
                <a:rPr lang="en-US" altLang="zh-CN" sz="1600" i="0" u="none" strike="noStrike" cap="none" dirty="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 </a:t>
              </a:r>
              <a:r>
                <a:rPr lang="zh-CN" altLang="en-US" sz="1600" b="0" i="0" u="none" strike="noStrike" cap="none" dirty="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采用启发式规则替代重型深度模型，实现极低延迟的实时反馈交互</a:t>
              </a:r>
              <a:r>
                <a:rPr lang="zh-CN" altLang="en-US" sz="2000" b="0" i="0" u="none" strike="noStrike" cap="none" dirty="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。</a:t>
              </a:r>
              <a:endParaRPr lang="zh-CN" altLang="en-US" sz="2000" b="0" i="0" u="none" strike="noStrike" cap="none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DM Sans"/>
              </a:endParaRPr>
            </a:p>
          </p:txBody>
        </p:sp>
        <p:sp>
          <p:nvSpPr>
            <p:cNvPr id="93" name="Google Shape;93;p13"/>
            <p:cNvSpPr txBox="1"/>
            <p:nvPr>
              <p:custDataLst>
                <p:tags r:id="rId3"/>
              </p:custDataLst>
            </p:nvPr>
          </p:nvSpPr>
          <p:spPr>
            <a:xfrm>
              <a:off x="1350" y="5240"/>
              <a:ext cx="7186" cy="1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1" i="0" u="none" strike="noStrike" cap="none" dirty="0">
                  <a:solidFill>
                    <a:srgbClr val="00528E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8类离散情绪字典 </a:t>
              </a:r>
              <a:r>
                <a:rPr lang="zh-CN" altLang="en-US" sz="1600" i="0" u="none" strike="noStrike" cap="none" dirty="0">
                  <a:solidFill>
                    <a:schemeClr val="tx1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涵盖 </a:t>
              </a:r>
              <a:r>
                <a:rPr lang="zh-CN" altLang="en-US" sz="1600" b="1" i="0" u="none" strike="noStrike" cap="none" dirty="0">
                  <a:solidFill>
                    <a:schemeClr val="tx1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[开心, 悲伤, 愤怒, 焦虑, 恐惧, 平静, 厌恶, 惊讶]</a:t>
              </a:r>
              <a:r>
                <a:rPr lang="zh-CN" altLang="en-US" sz="1600" i="0" u="none" strike="noStrike" cap="none" dirty="0">
                  <a:solidFill>
                    <a:schemeClr val="tx1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，基于高频情感关键词库进行匹配加权。</a:t>
              </a:r>
              <a:endParaRPr lang="zh-CN" altLang="en-US" sz="1600" i="0" u="none" strike="noStrike" cap="none" dirty="0">
                <a:solidFill>
                  <a:schemeClr val="tx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DM Sans"/>
              </a:endParaRPr>
            </a:p>
          </p:txBody>
        </p:sp>
        <p:sp>
          <p:nvSpPr>
            <p:cNvPr id="94" name="Google Shape;94;p13"/>
            <p:cNvSpPr txBox="1"/>
            <p:nvPr>
              <p:custDataLst>
                <p:tags r:id="rId4"/>
              </p:custDataLst>
            </p:nvPr>
          </p:nvSpPr>
          <p:spPr>
            <a:xfrm>
              <a:off x="1380" y="7052"/>
              <a:ext cx="7156" cy="1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600" b="1" i="0" u="none" strike="noStrike" cap="none" dirty="0">
                  <a:solidFill>
                    <a:srgbClr val="00528E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多维语义特征修正 </a:t>
              </a:r>
              <a:r>
                <a:rPr lang="zh-CN" altLang="en-US" sz="1600" i="0" u="none" strike="noStrike" cap="none" dirty="0">
                  <a:solidFill>
                    <a:schemeClr val="tx1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集成否定词侦测（情绪逆转）、程度副词加权（强度调整）及标点符号（如“!”）的情绪增益算法。</a:t>
              </a:r>
              <a:endParaRPr lang="zh-CN" altLang="en-US" sz="1600" i="0" u="none" strike="noStrike" cap="none" dirty="0">
                <a:solidFill>
                  <a:schemeClr val="tx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DM Sans"/>
              </a:endParaRPr>
            </a:p>
          </p:txBody>
        </p:sp>
        <p:sp>
          <p:nvSpPr>
            <p:cNvPr id="95" name="Google Shape;95;p13"/>
            <p:cNvSpPr txBox="1"/>
            <p:nvPr>
              <p:custDataLst>
                <p:tags r:id="rId5"/>
              </p:custDataLst>
            </p:nvPr>
          </p:nvSpPr>
          <p:spPr>
            <a:xfrm>
              <a:off x="1350" y="8515"/>
              <a:ext cx="7186" cy="1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600" b="1" i="0" u="none" strike="noStrike" cap="none" dirty="0">
                  <a:solidFill>
                    <a:srgbClr val="00528E"/>
                  </a:solidFill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V-A-D 情感空间映射</a:t>
              </a:r>
              <a:r>
                <a:rPr lang="zh-CN" altLang="en-US" sz="1600" b="0" i="0" u="none" strike="noStrike" cap="none" dirty="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 将分类结果映射为</a:t>
              </a:r>
              <a:r>
                <a:rPr lang="zh-CN" altLang="en-US" sz="1600" b="1" i="0" u="none" strike="noStrike" cap="none" dirty="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三维连续向量（愉悦度、激活度、优势度）</a:t>
              </a:r>
              <a:r>
                <a:rPr lang="zh-CN" altLang="en-US" sz="1600" b="0" i="0" u="none" strike="noStrike" cap="none" dirty="0">
                  <a:latin typeface="OPPOSans B" panose="00020600040101010101" pitchFamily="18" charset="-122"/>
                  <a:ea typeface="OPPOSans B" panose="00020600040101010101" pitchFamily="18" charset="-122"/>
                  <a:cs typeface="OPPOSans B" panose="00020600040101010101" pitchFamily="18" charset="-122"/>
                  <a:sym typeface="DM Sans"/>
                </a:rPr>
                <a:t>，支持数字人表情的精细化驱动。</a:t>
              </a:r>
              <a:endParaRPr lang="zh-CN" altLang="en-US" sz="1600" b="0" i="0" u="none" strike="noStrike" cap="none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DM Sans"/>
              </a:endParaRPr>
            </a:p>
          </p:txBody>
        </p:sp>
        <p:pic>
          <p:nvPicPr>
            <p:cNvPr id="96" name="Google Shape;96;p13" descr="image.png"/>
            <p:cNvPicPr preferRelativeResize="0"/>
            <p:nvPr>
              <p:custDataLst>
                <p:tags r:id="rId6"/>
              </p:custDataLst>
            </p:nvPr>
          </p:nvPicPr>
          <p:blipFill rotWithShape="1">
            <a:blip r:embed="rId7">
              <a:duotone>
                <a:prstClr val="black"/>
                <a:srgbClr val="00528E">
                  <a:tint val="45000"/>
                  <a:satMod val="400000"/>
                </a:srgbClr>
              </a:duotone>
            </a:blip>
            <a:srcRect/>
            <a:stretch>
              <a:fillRect/>
            </a:stretch>
          </p:blipFill>
          <p:spPr>
            <a:xfrm>
              <a:off x="900" y="4177"/>
              <a:ext cx="345" cy="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3" descr="image.png"/>
            <p:cNvPicPr preferRelativeResize="0"/>
            <p:nvPr>
              <p:custDataLst>
                <p:tags r:id="rId8"/>
              </p:custDataLst>
            </p:nvPr>
          </p:nvPicPr>
          <p:blipFill rotWithShape="1">
            <a:blip r:embed="rId9">
              <a:duotone>
                <a:prstClr val="black"/>
                <a:srgbClr val="00528E">
                  <a:tint val="45000"/>
                  <a:satMod val="400000"/>
                </a:srgbClr>
              </a:duotone>
            </a:blip>
            <a:srcRect/>
            <a:stretch>
              <a:fillRect/>
            </a:stretch>
          </p:blipFill>
          <p:spPr>
            <a:xfrm>
              <a:off x="975" y="5356"/>
              <a:ext cx="270" cy="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3" descr="image.png"/>
            <p:cNvPicPr preferRelativeResize="0"/>
            <p:nvPr>
              <p:custDataLst>
                <p:tags r:id="rId10"/>
              </p:custDataLst>
            </p:nvPr>
          </p:nvPicPr>
          <p:blipFill rotWithShape="1">
            <a:blip r:embed="rId11">
              <a:duotone>
                <a:prstClr val="black"/>
                <a:srgbClr val="00528E">
                  <a:tint val="45000"/>
                  <a:satMod val="400000"/>
                </a:srgbClr>
              </a:duotone>
            </a:blip>
            <a:srcRect/>
            <a:stretch>
              <a:fillRect/>
            </a:stretch>
          </p:blipFill>
          <p:spPr>
            <a:xfrm>
              <a:off x="900" y="7104"/>
              <a:ext cx="300" cy="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3" descr="image.png"/>
            <p:cNvPicPr preferRelativeResize="0"/>
            <p:nvPr>
              <p:custDataLst>
                <p:tags r:id="rId12"/>
              </p:custDataLst>
            </p:nvPr>
          </p:nvPicPr>
          <p:blipFill rotWithShape="1">
            <a:blip r:embed="rId13">
              <a:duotone>
                <a:prstClr val="black"/>
                <a:srgbClr val="00528E">
                  <a:tint val="45000"/>
                  <a:satMod val="400000"/>
                </a:srgbClr>
              </a:duotone>
            </a:blip>
            <a:srcRect/>
            <a:stretch>
              <a:fillRect/>
            </a:stretch>
          </p:blipFill>
          <p:spPr>
            <a:xfrm>
              <a:off x="900" y="8568"/>
              <a:ext cx="270" cy="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" name="图片 3" descr="ChatGPT Image 2026年5月16日 11_58_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4955" y="2085340"/>
            <a:ext cx="6652260" cy="37712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3.3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4255" y="413385"/>
            <a:ext cx="2498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语音情感识别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子模块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3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/>
              <a:t>人工标注局限性</a:t>
            </a:r>
            <a:endParaRPr lang="zh-CN" altLang="en-US"/>
          </a:p>
        </p:txBody>
      </p:sp>
      <p:sp>
        <p:nvSpPr>
          <p:cNvPr id="4" name="装饰 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144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人工标注音频情感特征（</a:t>
            </a:r>
            <a:r>
              <a:rPr lang="zh-CN" altLang="en-US" b="1"/>
              <a:t>语速，唤醒度，能量</a:t>
            </a:r>
            <a:r>
              <a:rPr lang="zh-CN" altLang="en-US"/>
              <a:t>等</a:t>
            </a:r>
            <a:r>
              <a:rPr lang="zh-CN" altLang="en-US"/>
              <a:t>参数）不准确，多次调整参数后仍无法分辨愤怒与惊讶参数，抽样测试准确率在10%到30%左右浮动，且总有情感识别准确率小于等于10%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/>
              <a:t>深度学习模型方案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33800" y="2641600"/>
            <a:ext cx="1905000" cy="3048000"/>
          </a:xfrm>
          <a:noFill/>
        </p:spPr>
        <p:txBody>
          <a:bodyPr lIns="0" tIns="0" rIns="0" bIns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采用基于Keras实现的开源语音情感识别工具包（项目来源https://github.com/Renovamen/Speech-Emotion-Recognition），集成了LSTM、CNN、SVM、MLP等多种模型微调训练数据集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/>
              <a:t>训练数据集</a:t>
            </a:r>
            <a:endParaRPr lang="zh-CN" altLang="en-US"/>
          </a:p>
        </p:txBody>
      </p:sp>
      <p:sp>
        <p:nvSpPr>
          <p:cNvPr id="10" name="装饰  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532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使用CASIA数据集，该数据集是语音情感识别领域的核心基准数据集，通常包含由多位说话人录制的6种典型情感语音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/>
              <a:t>模型识别效果</a:t>
            </a:r>
            <a:endParaRPr lang="zh-CN" altLang="en-US"/>
          </a:p>
        </p:txBody>
      </p:sp>
      <p:sp>
        <p:nvSpPr>
          <p:cNvPr id="13" name="装饰  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" name="文本占位符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372600" y="2641600"/>
            <a:ext cx="1905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使用深度学习模型在无法识别平静的情况下总准确率在80%以上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3.3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4255" y="413385"/>
            <a:ext cx="2498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ea"/>
              </a:rPr>
              <a:t>语音情感识别子模块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pic>
        <p:nvPicPr>
          <p:cNvPr id="2" name="图片 1" descr="屏幕截图 2026-05-15 2215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18945"/>
            <a:ext cx="7407275" cy="37674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4420" y="1288415"/>
            <a:ext cx="555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对于难以识别的语音进行概率分析并排序兼容</a:t>
            </a:r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4420" y="5548630"/>
            <a:ext cx="64446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提升</a:t>
            </a:r>
            <a:r>
              <a:rPr lang="zh-CN" altLang="en-US"/>
              <a:t>空间：</a:t>
            </a:r>
            <a:endParaRPr lang="zh-CN" altLang="en-US"/>
          </a:p>
          <a:p>
            <a:r>
              <a:rPr lang="zh-CN" altLang="en-US"/>
              <a:t>模型专业化：训练好的模型任务与项目任务不</a:t>
            </a:r>
            <a:r>
              <a:rPr lang="zh-CN" altLang="en-US"/>
              <a:t>完全匹配</a:t>
            </a:r>
            <a:endParaRPr lang="zh-CN" altLang="en-US"/>
          </a:p>
          <a:p>
            <a:r>
              <a:rPr lang="zh-CN" altLang="en-US"/>
              <a:t>自然语音数据集：现有数据集机械性太强，使模型过拟合，不适应自然场景</a:t>
            </a:r>
            <a:r>
              <a:rPr lang="zh-CN" altLang="en-US"/>
              <a:t>应用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3.3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4255" y="413385"/>
            <a:ext cx="2498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情感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合成子模块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3.4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4255" y="413385"/>
            <a:ext cx="2498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桌宠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系统子模块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1737995" y="2728595"/>
            <a:ext cx="8716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b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原型展示</a:t>
            </a:r>
            <a:endParaRPr lang="zh-CN" sz="5400" b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流程图: 终止 22"/>
          <p:cNvSpPr/>
          <p:nvPr/>
        </p:nvSpPr>
        <p:spPr>
          <a:xfrm>
            <a:off x="5116830" y="5075555"/>
            <a:ext cx="1959610" cy="501015"/>
          </a:xfrm>
          <a:prstGeom prst="flowChartTermina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MiSans Normal" panose="00000500000000000000" charset="-122"/>
                <a:ea typeface="MiSans Normal" panose="00000500000000000000" charset="-122"/>
              </a:rPr>
              <a:t>P A R T . 0 4</a:t>
            </a:r>
            <a:endParaRPr lang="en-US" altLang="zh-CN"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20850" y="3915410"/>
            <a:ext cx="8750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i="1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Interface display</a:t>
            </a:r>
            <a:endParaRPr lang="zh-CN" altLang="en-US" i="1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99660" y="1356995"/>
            <a:ext cx="23939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>
                <a:solidFill>
                  <a:schemeClr val="tx2">
                    <a:lumMod val="75000"/>
                    <a:lumOff val="25000"/>
                  </a:schemeClr>
                </a:solidFill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lang="en-US" altLang="zh-CN" sz="6600">
              <a:solidFill>
                <a:schemeClr val="tx2">
                  <a:lumMod val="75000"/>
                  <a:lumOff val="25000"/>
                </a:scheme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7" name="直接连接符 16"/>
          <p:cNvCxnSpPr/>
          <p:nvPr/>
        </p:nvCxnSpPr>
        <p:spPr>
          <a:xfrm>
            <a:off x="439299" y="431906"/>
            <a:ext cx="0" cy="345325"/>
          </a:xfrm>
          <a:prstGeom prst="line">
            <a:avLst/>
          </a:prstGeom>
          <a:ln w="92075">
            <a:solidFill>
              <a:srgbClr val="122E66"/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/>
        </p:nvSpPr>
        <p:spPr>
          <a:xfrm>
            <a:off x="525924" y="413052"/>
            <a:ext cx="6454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4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02335" y="412750"/>
            <a:ext cx="24987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demo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展示</a:t>
            </a:r>
            <a:endParaRPr lang="zh-CN" altLang="en-US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-16631" y="1121789"/>
            <a:ext cx="11936730" cy="12065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0E58A3"/>
          </a:lnRef>
          <a:fillRef idx="0">
            <a:srgbClr val="0E58A3"/>
          </a:fillRef>
          <a:effectRef idx="0">
            <a:srgbClr val="0E58A3"/>
          </a:effectRef>
          <a:fontRef idx="minor">
            <a:srgbClr val="000000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2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3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4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5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6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7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8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9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10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11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12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13.xml><?xml version="1.0" encoding="utf-8"?>
<p:tagLst xmlns:p="http://schemas.openxmlformats.org/presentationml/2006/main">
  <p:tag name="KSO_WM_DIAGRAM_VIRTUALLY_FRAME" val="{&quot;height&quot;:361.55645669291346,&quot;left&quot;:68.43866141732278,&quot;top&quot;:75.74299212598423,&quot;width&quot;:797.7672440944881}"/>
</p:tagLst>
</file>

<file path=ppt/tags/tag1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18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19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0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1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2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3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4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5.xml><?xml version="1.0" encoding="utf-8"?>
<p:tagLst xmlns:p="http://schemas.openxmlformats.org/presentationml/2006/main">
  <p:tag name="KSO_WM_DIAGRAM_VIRTUALLY_FRAME" val="{&quot;height&quot;:411.0159845039583,&quot;left&quot;:34.6,&quot;top&quot;:113.70000000000002,&quot;width&quot;:400.45}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9.xml><?xml version="1.0" encoding="utf-8"?>
<p:tagLst xmlns:p="http://schemas.openxmlformats.org/presentationml/2006/main">
  <p:tag name="COMMONDATA" val="eyJoZGlkIjoiMWE5M2Q3YTk2NzExM2ViYmM0ZjRmYzRhOWQ2NWVkYzYifQ=="/>
</p:tagLst>
</file>

<file path=ppt/theme/theme1.xml><?xml version="1.0" encoding="utf-8"?>
<a:theme xmlns:a="http://schemas.openxmlformats.org/drawingml/2006/main" name="Office 主题​​">
  <a:themeElements>
    <a:clrScheme name="自定义 25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528E"/>
      </a:accent1>
      <a:accent2>
        <a:srgbClr val="9F2B24"/>
      </a:accent2>
      <a:accent3>
        <a:srgbClr val="9F2B24"/>
      </a:accent3>
      <a:accent4>
        <a:srgbClr val="9F2B24"/>
      </a:accent4>
      <a:accent5>
        <a:srgbClr val="9F2B24"/>
      </a:accent5>
      <a:accent6>
        <a:srgbClr val="9F2B24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52">
    <a:dk1>
      <a:srgbClr val="000000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9F2B24"/>
    </a:accent2>
    <a:accent3>
      <a:srgbClr val="9F2B24"/>
    </a:accent3>
    <a:accent4>
      <a:srgbClr val="9F2B24"/>
    </a:accent4>
    <a:accent5>
      <a:srgbClr val="9F2B24"/>
    </a:accent5>
    <a:accent6>
      <a:srgbClr val="9F2B24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252">
    <a:dk1>
      <a:srgbClr val="000000"/>
    </a:dk1>
    <a:lt1>
      <a:srgbClr val="FFFFFF"/>
    </a:lt1>
    <a:dk2>
      <a:srgbClr val="44546A"/>
    </a:dk2>
    <a:lt2>
      <a:srgbClr val="E7E6E6"/>
    </a:lt2>
    <a:accent1>
      <a:srgbClr val="00528E"/>
    </a:accent1>
    <a:accent2>
      <a:srgbClr val="9F2B24"/>
    </a:accent2>
    <a:accent3>
      <a:srgbClr val="9F2B24"/>
    </a:accent3>
    <a:accent4>
      <a:srgbClr val="9F2B24"/>
    </a:accent4>
    <a:accent5>
      <a:srgbClr val="9F2B24"/>
    </a:accent5>
    <a:accent6>
      <a:srgbClr val="9F2B24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1786</Words>
  <Application>WPS 演示</Application>
  <PresentationFormat>宽屏</PresentationFormat>
  <Paragraphs>163</Paragraphs>
  <Slides>15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字魂160号-檀宋</vt:lpstr>
      <vt:lpstr>字魂105号-简雅黑</vt:lpstr>
      <vt:lpstr>Times New Roman</vt:lpstr>
      <vt:lpstr>字魂59号-创粗黑</vt:lpstr>
      <vt:lpstr>华文行楷</vt:lpstr>
      <vt:lpstr>MiSans Normal</vt:lpstr>
      <vt:lpstr>OPPOSans B</vt:lpstr>
      <vt:lpstr>等线</vt:lpstr>
      <vt:lpstr>微软雅黑</vt:lpstr>
      <vt:lpstr>Arial Unicode MS</vt:lpstr>
      <vt:lpstr>等线 Light</vt:lpstr>
      <vt:lpstr>Calibri</vt:lpstr>
      <vt:lpstr>黑体</vt:lpstr>
      <vt:lpstr>DM Sans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qwww</dc:creator>
  <cp:lastModifiedBy>殷龙飞</cp:lastModifiedBy>
  <cp:revision>70</cp:revision>
  <dcterms:created xsi:type="dcterms:W3CDTF">2021-10-27T07:03:00Z</dcterms:created>
  <dcterms:modified xsi:type="dcterms:W3CDTF">2026-05-16T13:34:56Z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7892A7D897E249BEB6C4D860DF9D10B7_12</vt:lpwstr>
  </property>
  <property fmtid="{D5CDD505-2E9C-101B-9397-08002B2CF9AE}" pid="3" name="KSOProductBuildVer">
    <vt:lpwstr>2052-12.1.0.23542</vt:lpwstr>
  </property>
</Properties>
</file>