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8BDF8"/>
                </a:solidFill>
                <a:latin typeface="Microsoft YaHei"/>
              </a:defRPr>
            </a:pPr>
            <a:r>
              <a:t>EmotionMirror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情感合成子模块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EC0"/>
                </a:solidFill>
                <a:latin typeface="Microsoft YaHei"/>
              </a:defRPr>
            </a:pPr>
            <a:r>
              <a:t>多模态情感驱动的人物表情合成与场景渲染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563EB"/>
                </a:solidFill>
                <a:latin typeface="Microsoft YaHei"/>
              </a:defRPr>
            </a:pPr>
            <a:r>
              <a:t>backend/expression/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整体流水线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828800" cy="10972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文本/语音</a:t>
            </a:r>
            <a:br/>
            <a:r>
              <a:t>情感识别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645920"/>
            <a:ext cx="1828800" cy="109728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VAD 情感向量</a:t>
            </a:r>
            <a:br/>
            <a:r>
              <a:t>[V, A, D]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645920"/>
            <a:ext cx="1828800" cy="1097280"/>
          </a:xfrm>
          <a:prstGeom prst="roundRect">
            <a:avLst/>
          </a:prstGeom>
          <a:solidFill>
            <a:srgbClr val="F098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情绪标签</a:t>
            </a:r>
            <a:br/>
            <a:r>
              <a:t>→ 表情参数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645920"/>
            <a:ext cx="1828800" cy="10972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LivePortrait</a:t>
            </a:r>
            <a:br/>
            <a:r>
              <a:t>表情重定向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1645920"/>
            <a:ext cx="1828800" cy="1097280"/>
          </a:xfrm>
          <a:prstGeom prst="round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GIF 生成</a:t>
            </a:r>
            <a:br/>
            <a:r>
              <a:t>透明背景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0" y="1645920"/>
            <a:ext cx="1828800" cy="109728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场景背景</a:t>
            </a:r>
            <a:br/>
            <a:r>
              <a:t>时间×情绪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86000" y="1965960"/>
            <a:ext cx="274320" cy="45720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4389120" y="1965960"/>
            <a:ext cx="274320" cy="45720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6492240" y="1965960"/>
            <a:ext cx="274320" cy="45720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8595360" y="1965960"/>
            <a:ext cx="274320" cy="45720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10698480" y="1965960"/>
            <a:ext cx="274320" cy="45720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  <a:r>
              <a:t>• 文本分析：基于关键词规则 + VAD 向量映射（8种情绪，95个关键词）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  <a:r>
              <a:t>• 语音分析：librosa 312维特征 → LSTM(128) → softmax 6分类 → VAD 映射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  <a:r>
              <a:t>• 表情合成：EMOTION_PARAMS 查表 → 强度缩放 → LivePortrait 关键点驱动 → SPADE 解码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  <a:r>
              <a:t>• GIF 输出：24帧余弦插值 + 头部微摆 + rembg 透明化 + 255色调色板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  <a:r>
              <a:t>• 场景渲染：4时段 × 8情绪 = 32种渐变背景 + 6种 CSS 动画效果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VAD 情感向量 → 面部动作参数映射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Microsoft YaHei"/>
              </a:defRPr>
            </a:pPr>
            <a:r>
              <a:t>VAD 向量 = [效价 Valence, 唤醒度 Arousal, 优势度 Dominance]，归一化至 [0, 1]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情绪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V (效价)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 (唤醒度)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 (优势度)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对应表情参数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开心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0.86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0.72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0.62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smile=1.3, lip_two=12, eyebrow=5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悲伤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0.18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0.32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smile=-0.3, eyebrow=-25, lip_three=-60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愤怒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0.78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0.67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smile=-0.3, eyebrow=-30, lip_three=-70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焦虑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0.82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0.35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eyebrow=-20, lip_one=-12, lip_three=-30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恐惧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0.18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0.86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eyebrow=30, lip_one=15, lip_three=80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平静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0.52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0.55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(全部默认值 0)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厌恶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0.55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0.42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smile=-0.3, lip_zero=-0.08, lip_three=-40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惊讶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0.63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0.74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0.48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smile=0.5, eyebrow=30, lip_three=100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63EB"/>
                </a:solidFill>
                <a:latin typeface="Microsoft YaHei"/>
              </a:defRPr>
            </a:pPr>
            <a:r>
              <a:t>synthesis.py: EMOTION_PARAMS — 情绪标签直接查表映射为 LivePortrait 的 9 个面部动作参数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基于 LivePortrait 的人物表情合成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5669280" cy="5029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9819"/>
                </a:solidFill>
                <a:latin typeface="Microsoft YaHei"/>
              </a:defRPr>
            </a:pPr>
            <a:r>
              <a:t>LivePortrait 重定向流程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1. init_retargeting_image()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 → 人脸检测 + 裁剪 (scale=2.3)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 → 提取外观特征 f_s + 关键点 x_s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 → 计算旋转矩阵 R_s, R_d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2. execute_image_retargeting()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 → 对 21 个面部关键点应用 delta 参数: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   • update_delta_new_smile  → 嘴角/脸颊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   • update_delta_new_eyebrow → 眉毛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   • update_delta_new_lip_*   → 嘴唇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   • update_delta_new_eyeball → 眼球/眼睑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3. 关键点重建: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 x_d = scale × (x_c @ R_d + delta) + 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4. stitching() → warp_decode() → paste_back()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 → SPADE 生成器 + 扭曲网络 → 回贴原图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486400" cy="5029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9819"/>
                </a:solidFill>
                <a:latin typeface="Microsoft YaHei"/>
              </a:defRPr>
            </a:pPr>
            <a:r>
              <a:t>表情参数范围 (PARAM_RANGES)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103120"/>
          <a:ext cx="52120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F098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范围</a:t>
                      </a:r>
                    </a:p>
                  </a:txBody>
                  <a:tcPr>
                    <a:solidFill>
                      <a:srgbClr val="F098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步长</a:t>
                      </a:r>
                    </a:p>
                  </a:txBody>
                  <a:tcPr>
                    <a:solidFill>
                      <a:srgbClr val="F098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F0981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smile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-1.0 ~ 1.5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0.1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微笑/嘴角上扬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wink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 ~ 1.0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眨眼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eyebrow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-40 ~ 40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眉毛升降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eyeball_x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-60 ~ 60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眼球水平方向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eyeball_y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-60 ~ 60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眼球垂直方向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lip_zero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-0.1 ~ 0.1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0.005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嘴唇微调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lip_one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-30 ~ 30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嘴唇张合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lip_two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-30 ~ 30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嘴角变化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lip_three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-100 ~ 100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嘴唇大幅变化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情绪强度控制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5669280" cy="5029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A34A"/>
                </a:solidFill>
                <a:latin typeface="Microsoft YaHei"/>
              </a:defRPr>
            </a:pPr>
            <a:r>
              <a:t>_apply_intensity() 参数缩放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• 用户可调节情绪强度：1 ~ 5 级（默认5=满强度）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• 缩放公式：scale = intensity / 5.0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所有表情参数 × scale → 等比缩放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intensity=1 → 20%    intensity=2 → 40%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intensity=3 → 60%    intensity=4 → 80%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intensity=5 → 100% (原始值)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• 合并策略：user_params 覆盖默认值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merged = {**EMOTION_PARAMS[emotion], **user_params}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merged = _apply_intensity(merged, intensity)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• 前端 UI：简洁强度滑块 + 可折叠高级面板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高级面板展开后可分别调节 9 个底层参数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486400" cy="5029200"/>
          </a:xfrm>
          <a:prstGeom prst="roundRect">
            <a:avLst/>
          </a:prstGeom>
          <a:solidFill>
            <a:srgbClr val="0D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A34A"/>
                </a:solidFill>
                <a:latin typeface="Microsoft YaHei"/>
              </a:defRPr>
            </a:pPr>
            <a:r>
              <a:t>核心代码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8BDF8"/>
                </a:solidFill>
                <a:latin typeface="Microsoft YaHei"/>
              </a:defRPr>
            </a:pPr>
            <a:r>
              <a:t>def _apply_intensity(base, intensity):</a:t>
            </a:r>
          </a:p>
          <a:p>
            <a:pPr>
              <a:spcAft>
                <a:spcPts val="600"/>
              </a:spcAft>
              <a:defRPr sz="1400">
                <a:solidFill>
                  <a:srgbClr val="38BDF8"/>
                </a:solidFill>
                <a:latin typeface="Microsoft YaHei"/>
              </a:defRPr>
            </a:pPr>
            <a:r>
              <a:t>    if not base or intensity &gt;= 5:</a:t>
            </a:r>
          </a:p>
          <a:p>
            <a:pPr>
              <a:spcAft>
                <a:spcPts val="600"/>
              </a:spcAft>
              <a:defRPr sz="1400">
                <a:solidFill>
                  <a:srgbClr val="38BDF8"/>
                </a:solidFill>
                <a:latin typeface="Microsoft YaHei"/>
              </a:defRPr>
            </a:pPr>
            <a:r>
              <a:t>        return base</a:t>
            </a:r>
          </a:p>
          <a:p>
            <a:pPr>
              <a:spcAft>
                <a:spcPts val="600"/>
              </a:spcAft>
              <a:defRPr sz="1400">
                <a:solidFill>
                  <a:srgbClr val="38BDF8"/>
                </a:solidFill>
                <a:latin typeface="Microsoft YaHei"/>
              </a:defRPr>
            </a:pPr>
            <a:r>
              <a:t>    s = max(1, min(5, intensity)) / 5.0</a:t>
            </a:r>
          </a:p>
          <a:p>
            <a:pPr>
              <a:spcAft>
                <a:spcPts val="600"/>
              </a:spcAft>
              <a:defRPr sz="1400">
                <a:solidFill>
                  <a:srgbClr val="38BDF8"/>
                </a:solidFill>
                <a:latin typeface="Microsoft YaHei"/>
              </a:defRPr>
            </a:pPr>
            <a:r>
              <a:t>    return {k: v * s for k, v in base.items()}</a:t>
            </a:r>
          </a:p>
          <a:p>
            <a:pPr>
              <a:spcAft>
                <a:spcPts val="600"/>
              </a:spcAft>
              <a:defRPr sz="1400">
                <a:solidFill>
                  <a:srgbClr val="38BDF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8BDF8"/>
                </a:solidFill>
                <a:latin typeface="Microsoft YaHei"/>
              </a:defRPr>
            </a:pPr>
            <a:r>
              <a:t>def synthesize_expression_gif(</a:t>
            </a:r>
          </a:p>
          <a:p>
            <a:pPr>
              <a:spcAft>
                <a:spcPts val="600"/>
              </a:spcAft>
              <a:defRPr sz="1400">
                <a:solidFill>
                  <a:srgbClr val="38BDF8"/>
                </a:solidFill>
                <a:latin typeface="Microsoft YaHei"/>
              </a:defRPr>
            </a:pPr>
            <a:r>
              <a:t>    image_path, emotion,</a:t>
            </a:r>
          </a:p>
          <a:p>
            <a:pPr>
              <a:spcAft>
                <a:spcPts val="600"/>
              </a:spcAft>
              <a:defRPr sz="1400">
                <a:solidFill>
                  <a:srgbClr val="38BDF8"/>
                </a:solidFill>
                <a:latin typeface="Microsoft YaHei"/>
              </a:defRPr>
            </a:pPr>
            <a:r>
              <a:t>    num_frames=12, fps=10,</a:t>
            </a:r>
          </a:p>
          <a:p>
            <a:pPr>
              <a:spcAft>
                <a:spcPts val="600"/>
              </a:spcAft>
              <a:defRPr sz="1400">
                <a:solidFill>
                  <a:srgbClr val="38BDF8"/>
                </a:solidFill>
                <a:latin typeface="Microsoft YaHei"/>
              </a:defRPr>
            </a:pPr>
            <a:r>
              <a:t>    params=None, intensity=5  # ← 新增</a:t>
            </a:r>
          </a:p>
          <a:p>
            <a:pPr>
              <a:spcAft>
                <a:spcPts val="600"/>
              </a:spcAft>
              <a:defRPr sz="1400">
                <a:solidFill>
                  <a:srgbClr val="38BDF8"/>
                </a:solidFill>
                <a:latin typeface="Microsoft YaHei"/>
              </a:defRPr>
            </a:pPr>
            <a:r>
              <a:t>):</a:t>
            </a:r>
          </a:p>
          <a:p>
            <a:pPr>
              <a:spcAft>
                <a:spcPts val="600"/>
              </a:spcAft>
              <a:defRPr sz="1400">
                <a:solidFill>
                  <a:srgbClr val="38BDF8"/>
                </a:solidFill>
                <a:latin typeface="Microsoft YaHei"/>
              </a:defRPr>
            </a:pPr>
            <a:r>
              <a:t>    base = EMOTION_PARAMS.get(emotion, {})</a:t>
            </a:r>
          </a:p>
          <a:p>
            <a:pPr>
              <a:spcAft>
                <a:spcPts val="600"/>
              </a:spcAft>
              <a:defRPr sz="1400">
                <a:solidFill>
                  <a:srgbClr val="38BDF8"/>
                </a:solidFill>
                <a:latin typeface="Microsoft YaHei"/>
              </a:defRPr>
            </a:pPr>
            <a:r>
              <a:t>    base = _apply_intensity(base, intensity)</a:t>
            </a:r>
          </a:p>
          <a:p>
            <a:pPr>
              <a:spcAft>
                <a:spcPts val="600"/>
              </a:spcAft>
              <a:defRPr sz="1400">
                <a:solidFill>
                  <a:srgbClr val="38BDF8"/>
                </a:solidFill>
                <a:latin typeface="Microsoft YaHei"/>
              </a:defRPr>
            </a:pPr>
            <a:r>
              <a:t>    target = {**base, **params} if params else base</a:t>
            </a:r>
          </a:p>
          <a:p>
            <a:pPr>
              <a:spcAft>
                <a:spcPts val="600"/>
              </a:spcAft>
              <a:defRPr sz="1400">
                <a:solidFill>
                  <a:srgbClr val="38BDF8"/>
                </a:solidFill>
                <a:latin typeface="Microsoft YaHei"/>
              </a:defRPr>
            </a:pPr>
            <a:r>
              <a:t>    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GIF 动画生成与头部微摆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5669280" cy="5029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Microsoft YaHei"/>
              </a:defRPr>
            </a:pPr>
            <a:r>
              <a:t>帧插值策略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• 总帧数：2 × num_frames = 24 帧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Phase 1: 中性 → 表情 (12帧, 渐入)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Phase 2: 表情 → 中性 (12帧, 渐出)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• 余弦缓动函数 (cosine ease-in-out):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t = 0.5 - 0.5 × cos(t × π)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使起止帧平滑过渡，无突变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• 无缝循环：末帧 t→0 与首帧 t=0 一致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• 输出：10fps, 2.4秒循环, loop=0(无限)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透明背景: rembg抠图 + 255色调色板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disposal=2 确保帧间正确清除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486400" cy="5029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Microsoft YaHei"/>
              </a:defRPr>
            </a:pPr>
            <a:r>
              <a:t>头部微摆 (Pseudo-3D)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为静态表情添加自然的头部晃动：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phase = 2π × frame_idx / total_frames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yaw   = 1.2 × sin(1 × phase)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pitch = 0.8 × sin(phase + π/4)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roll  = 0.5 × sin(1 × phase)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• 整数倍频率保证首尾帧一致 (无缝循环)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• pitch 偏移 π/4 避免机械感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• 幅度经调优：yaw=1.2°, pitch=0.8°, roll=0.5°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透明背景处理：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• 首帧通过 rembg 生成 alpha 蒙版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• 高度≥200px 时形态学膨胀防锯齿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• 非前景像素 alpha=0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基于时间与情绪的场景背景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Microsoft YaHei"/>
              </a:defRPr>
            </a:pPr>
            <a:r>
              <a:t>4时段 × 8情绪 = 32种场景组合，每种包含 CSS 渐变背景 + 动画效果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2651760" cy="914400"/>
          </a:xfrm>
          <a:prstGeom prst="roundRect">
            <a:avLst/>
          </a:prstGeom>
          <a:solidFill>
            <a:srgbClr val="FF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早晨 (6-12)</a:t>
            </a:r>
          </a:p>
          <a:p>
            <a:pPr algn="ctr"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暖橙/粉色系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737360"/>
            <a:ext cx="2651760" cy="914400"/>
          </a:xfrm>
          <a:prstGeom prst="roundRect">
            <a:avLst/>
          </a:prstGeom>
          <a:solidFill>
            <a:srgbClr val="74B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下午 (12-18)</a:t>
            </a:r>
          </a:p>
          <a:p>
            <a:pPr algn="ctr"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明亮蓝天系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2651760" cy="914400"/>
          </a:xfrm>
          <a:prstGeom prst="roundRect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傍晚 (18-21)</a:t>
            </a:r>
          </a:p>
          <a:p>
            <a:pPr algn="ctr"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夕阳/暗橙系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737360"/>
            <a:ext cx="2651760" cy="914400"/>
          </a:xfrm>
          <a:prstGeom prst="roundRect">
            <a:avLst/>
          </a:prstGeom>
          <a:solidFill>
            <a:srgbClr val="0F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夜晚 (21-6)</a:t>
            </a:r>
          </a:p>
          <a:p>
            <a:pPr algn="ctr"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深蓝/深紫系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926080"/>
            <a:ext cx="11430000" cy="36576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Microsoft YaHei"/>
              </a:defRPr>
            </a:pPr>
            <a:r>
              <a:t>6种动画效果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56616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动画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实现方式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CSS 技术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rain (雨滴)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12个半透明细条从上到下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悲伤情绪 (全时段)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@keyframes + 线性动画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stars (星星)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8个圆点闪烁 (0.2↔1.0 透明度)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夜晚 开心/平静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ease-in-out 循环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fire (火花)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10个渐变点从下往上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愤怒情绪 (全时段)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ease-out + 缩放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fog (雾气)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3个大模糊圆水平漂移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焦虑情绪 (全时段)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blur(20px) + alternate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lightning (闪电)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全屏白色闪光 (4秒周期)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恐惧情绪 (全时段)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关键帧精确控制</a:t>
                      </a:r>
                    </a:p>
                  </a:txBody>
                  <a:tcPr>
                    <a:solidFill>
                      <a:srgbClr val="0F182A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sparkle (光斑)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6个光点缩放闪烁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开心/惊讶 (全时段)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ease-in-out + scale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1. 完整的情感→表情流水线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   文本/语音情感识别 → VAD向量 → EMOTION_PARAMS查表 → LivePortrait关键点驱动 → GIF输出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2. 灵活的情绪强度控制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   1-5级等比缩放 + 高级参数面板(9个独立滑块) → 前后端完整联调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3. 自然的动画效果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   余弦缓动插值 + 头部微摆(yaw/pitch/roll) + rembg透明背景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4. 沉浸式场景渲染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   4时段 × 8情绪 = 32种场景，6种CSS动画(雨/星/火/雾/电/光)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5. 可扩展设计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   EMOTION_PARAMS / PARAM_RANGES / SCENES 配置驱动，新增情绪或场景只需修改配置表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63EB"/>
                </a:solidFill>
                <a:latin typeface="Microsoft YaHei"/>
              </a:defRPr>
            </a:pPr>
            <a:r>
              <a:t>核心文件: synthesis.py | sceneConfig.js | SceneBackground.jsx | ExpressionParamsPanel.jsx | api.js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